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6" r:id="rId8"/>
    <p:sldId id="265" r:id="rId9"/>
    <p:sldId id="264" r:id="rId10"/>
    <p:sldId id="263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8287"/>
    <a:srgbClr val="DC3889"/>
    <a:srgbClr val="781F4A"/>
    <a:srgbClr val="318E92"/>
    <a:srgbClr val="CF4D50"/>
    <a:srgbClr val="389DA2"/>
    <a:srgbClr val="DC5C1B"/>
    <a:srgbClr val="602FA0"/>
    <a:srgbClr val="FB6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4"/>
    <p:restoredTop sz="94701"/>
  </p:normalViewPr>
  <p:slideViewPr>
    <p:cSldViewPr snapToGrid="0">
      <p:cViewPr>
        <p:scale>
          <a:sx n="76" d="100"/>
          <a:sy n="76" d="100"/>
        </p:scale>
        <p:origin x="1784" y="1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981B-76B6-5028-DFD3-6ABCAD9F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1B21C-3FA2-AF41-F0AD-DD15C08F8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F902D-84E2-ED54-2199-4D8AC949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EBAC7-EFFA-EC2C-1617-D6C84847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4A78C-4D1C-62D9-3644-8833423E8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6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736E-C890-FA4D-AA6F-772D0A90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E6E4B-3DCC-E044-614A-899DD26A3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F441C-11BB-B288-B111-2D1963E2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AEE7B-26E8-6010-9906-C13BEB4A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A1EA0-C855-AC15-AA5F-5228097C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4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1E42-1DF5-397D-48CA-9C3421B8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AD495-0313-0124-7288-844896EA4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44656-E052-168B-014A-9D6893C7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E468-3399-7683-D54A-B23E8388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38BF5-FAD3-D8B5-8B2F-8BB237FF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9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26E3-ED32-1505-67E7-97F6A649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67B3-9AE5-C6FC-6AC1-D461E01C9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CF857-3AC2-48D2-8509-DDFDE4E63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65B3A-53B2-EBBD-3301-5A2B5EC7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21C59-B2AE-97E4-8D35-E3B0FFE7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6048C-DC20-4568-3873-0F3A4665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4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3367-6186-48AE-E2E3-43CFF413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BABAD-ADFD-127C-5684-15B472010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68306-8648-FE39-30B3-DE327831E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65BDC-5914-D10E-2828-C8F4CB57D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8FA4E-912E-033A-53F9-64EE73689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BE01C-0922-7340-3C5C-DF33D249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EB1F7-7B10-E1E2-BA68-EC82DEB2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AA300-DF71-82FD-A487-DC4608E5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94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A935-32A5-D6F2-F4F9-DF4126162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9AC9B-6FF9-4745-5EC4-5983FB83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9ECEB-A0B6-D304-323E-C31353DC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B7EAB-B208-2D3D-4672-68DEC386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3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EFFE5-BD56-7159-7E8F-D9A07886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9866C-38C1-D8C6-71B7-17771B2E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AA3F3-776A-41AA-02C7-5A607421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0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A537-22EA-4E9D-8913-D46A4E6D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410C9-1881-2E62-C69D-1005BE79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0B08C-0A7E-D90A-2D89-095C8DE9E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F7F0E-5E91-7053-8967-447E45A6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5A1BE-A928-AE35-42EE-11DEF742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40191-BFDC-05E9-BDE6-7288B2FE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9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74E1D-4C2E-F250-13A5-AD9C8307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73793-C40D-6D1D-1BB4-0181FB0A5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B23FD-DD4B-CF5F-63A5-B1AA6CB1A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DBC4E-AA96-5CA9-B93C-78DFB12D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104AF-5E23-C3B8-8CDB-85F92C21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E8D18-A410-35CB-C647-A18147D5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0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366E-0424-6FAE-AA49-7ED5C4F8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F7C68-7BD3-F0BA-1BE8-71613775B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B36F7-5128-6EC3-467E-C158F1F6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D99D2-B0A5-B749-14DF-BBAB0108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4BC77-040E-BE2A-AD34-4343D7EC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1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ED7E1-5227-8934-7A4E-E30757684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7B3D3-21C6-17DA-BE79-1AFDAE916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EB59-94B2-CD18-A888-6F93919A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C8EC-BFC8-5B1B-F1BB-FD20B5F1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F68DA-9013-FD53-895A-0668BC3A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4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FCABA-23A0-63CC-5E00-81436EEF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1F91C-3844-91FC-2F2F-959EEA163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26A79-95C4-26BA-ADCC-033EA8BB4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82098-4A09-7E46-AC63-9336EE7CF584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5C575-55D2-8B43-6A4F-028902F59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38C85-6C11-C25D-DD82-11D55536E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A755D-044E-C944-83A5-6108F3EB8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5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jpeg"/><Relationship Id="rId4" Type="http://schemas.openxmlformats.org/officeDocument/2006/relationships/image" Target="../media/image6.png"/><Relationship Id="rId9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>
            <a:extLst>
              <a:ext uri="{FF2B5EF4-FFF2-40B4-BE49-F238E27FC236}">
                <a16:creationId xmlns:a16="http://schemas.microsoft.com/office/drawing/2014/main" id="{CD78EE5A-D22F-EDCA-F8A7-71D14389A829}"/>
              </a:ext>
            </a:extLst>
          </p:cNvPr>
          <p:cNvSpPr/>
          <p:nvPr/>
        </p:nvSpPr>
        <p:spPr>
          <a:xfrm>
            <a:off x="12543836" y="3145072"/>
            <a:ext cx="3839523" cy="3301739"/>
          </a:xfrm>
          <a:custGeom>
            <a:avLst/>
            <a:gdLst/>
            <a:ahLst/>
            <a:cxnLst/>
            <a:rect l="l" t="t" r="r" b="b"/>
            <a:pathLst>
              <a:path w="4671759" h="4017408">
                <a:moveTo>
                  <a:pt x="0" y="0"/>
                </a:moveTo>
                <a:lnTo>
                  <a:pt x="4671759" y="0"/>
                </a:lnTo>
                <a:lnTo>
                  <a:pt x="4671759" y="4017408"/>
                </a:lnTo>
                <a:lnTo>
                  <a:pt x="0" y="401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2" t="-11571" r="-2117" b="-105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B8CEC924-7FB7-3120-6EB4-43475D64F29D}"/>
              </a:ext>
            </a:extLst>
          </p:cNvPr>
          <p:cNvSpPr/>
          <p:nvPr/>
        </p:nvSpPr>
        <p:spPr>
          <a:xfrm>
            <a:off x="4970493" y="7133606"/>
            <a:ext cx="3597111" cy="3150013"/>
          </a:xfrm>
          <a:custGeom>
            <a:avLst/>
            <a:gdLst/>
            <a:ahLst/>
            <a:cxnLst/>
            <a:rect l="l" t="t" r="r" b="b"/>
            <a:pathLst>
              <a:path w="5386979" h="4717411">
                <a:moveTo>
                  <a:pt x="0" y="0"/>
                </a:moveTo>
                <a:lnTo>
                  <a:pt x="5386979" y="0"/>
                </a:lnTo>
                <a:lnTo>
                  <a:pt x="5386979" y="4717412"/>
                </a:lnTo>
                <a:lnTo>
                  <a:pt x="0" y="4717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31" t="-11612" r="-5306" b="-126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CD5DF9E-20D2-48F5-28EA-531031C144DE}"/>
              </a:ext>
            </a:extLst>
          </p:cNvPr>
          <p:cNvSpPr/>
          <p:nvPr/>
        </p:nvSpPr>
        <p:spPr>
          <a:xfrm>
            <a:off x="8458803" y="-2508677"/>
            <a:ext cx="3597111" cy="2145827"/>
          </a:xfrm>
          <a:custGeom>
            <a:avLst/>
            <a:gdLst/>
            <a:ahLst/>
            <a:cxnLst/>
            <a:rect l="l" t="t" r="r" b="b"/>
            <a:pathLst>
              <a:path w="5280457" h="3150013">
                <a:moveTo>
                  <a:pt x="0" y="0"/>
                </a:moveTo>
                <a:lnTo>
                  <a:pt x="5280457" y="0"/>
                </a:lnTo>
                <a:lnTo>
                  <a:pt x="5280457" y="3150014"/>
                </a:lnTo>
                <a:lnTo>
                  <a:pt x="0" y="315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60" t="-552" r="-3973" b="-3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999D8D-6AA2-5997-FC2F-2440091CA1D5}"/>
              </a:ext>
            </a:extLst>
          </p:cNvPr>
          <p:cNvSpPr txBox="1"/>
          <p:nvPr/>
        </p:nvSpPr>
        <p:spPr>
          <a:xfrm>
            <a:off x="1159285" y="-851852"/>
            <a:ext cx="5147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Courier New" panose="02070309020205020404" pitchFamily="49" charset="0"/>
              </a:rPr>
              <a:t>Student TradeHub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52A15F7-0A1C-BE6F-2217-DBA4B31094E6}"/>
              </a:ext>
            </a:extLst>
          </p:cNvPr>
          <p:cNvSpPr/>
          <p:nvPr/>
        </p:nvSpPr>
        <p:spPr>
          <a:xfrm>
            <a:off x="-1353188" y="651330"/>
            <a:ext cx="265814" cy="2658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86DFED-FC4C-3706-D91F-7DDB70536A54}"/>
              </a:ext>
            </a:extLst>
          </p:cNvPr>
          <p:cNvSpPr txBox="1"/>
          <p:nvPr/>
        </p:nvSpPr>
        <p:spPr>
          <a:xfrm>
            <a:off x="-1062059" y="1135747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Montserrat" pitchFamily="2" charset="77"/>
              </a:rPr>
              <a:t>Group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7C1BB-283F-2A6D-9C7D-EBD3E8D738A2}"/>
              </a:ext>
            </a:extLst>
          </p:cNvPr>
          <p:cNvSpPr txBox="1"/>
          <p:nvPr/>
        </p:nvSpPr>
        <p:spPr>
          <a:xfrm>
            <a:off x="-2955193" y="3025050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Group Members</a:t>
            </a:r>
          </a:p>
        </p:txBody>
      </p:sp>
      <p:grpSp>
        <p:nvGrpSpPr>
          <p:cNvPr id="68" name="!!Name Group">
            <a:extLst>
              <a:ext uri="{FF2B5EF4-FFF2-40B4-BE49-F238E27FC236}">
                <a16:creationId xmlns:a16="http://schemas.microsoft.com/office/drawing/2014/main" id="{9EF806AB-25BC-91A1-01E7-4DEFE787A5A5}"/>
              </a:ext>
            </a:extLst>
          </p:cNvPr>
          <p:cNvGrpSpPr/>
          <p:nvPr/>
        </p:nvGrpSpPr>
        <p:grpSpPr>
          <a:xfrm>
            <a:off x="-3773633" y="3510503"/>
            <a:ext cx="3617512" cy="2460121"/>
            <a:chOff x="-3773633" y="3510503"/>
            <a:chExt cx="3617512" cy="246012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ACDAFBD-DB32-7148-79F0-20F83FFB7BBB}"/>
                </a:ext>
              </a:extLst>
            </p:cNvPr>
            <p:cNvGrpSpPr/>
            <p:nvPr/>
          </p:nvGrpSpPr>
          <p:grpSpPr>
            <a:xfrm>
              <a:off x="-3773633" y="351050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79D23F5-5AEA-8062-43FD-1237AAFC4F5D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202580313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387FEB4A-456A-A87A-3E67-C4995271F1F6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Olaiya Oluwatomisin 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0CFA34D-5312-2A23-1AD7-65416C8A41DF}"/>
                </a:ext>
              </a:extLst>
            </p:cNvPr>
            <p:cNvGrpSpPr/>
            <p:nvPr/>
          </p:nvGrpSpPr>
          <p:grpSpPr>
            <a:xfrm>
              <a:off x="-3773633" y="386718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30C9801E-B9FC-A403-C248-AFFA56333E63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202580788</a:t>
                </a: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B7C7A2C-790B-5546-FC10-D0F9CADC1557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Labib Islam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5E60924-39B5-E430-0AC3-8A686CAABF75}"/>
                </a:ext>
              </a:extLst>
            </p:cNvPr>
            <p:cNvGrpSpPr/>
            <p:nvPr/>
          </p:nvGrpSpPr>
          <p:grpSpPr>
            <a:xfrm>
              <a:off x="-3773633" y="422386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5EB3B2E3-8304-FA53-1CE6-66A30483308F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202584000</a:t>
                </a: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4EFB928F-F6AF-07BD-8C0A-71E23F8BD75A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Nafiur Rahman 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110CE62-E274-49CD-9F7C-F10076AD78C3}"/>
                </a:ext>
              </a:extLst>
            </p:cNvPr>
            <p:cNvGrpSpPr/>
            <p:nvPr/>
          </p:nvGrpSpPr>
          <p:grpSpPr>
            <a:xfrm>
              <a:off x="-3773633" y="458054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C0409041-4784-3827-16A8-925D2114307E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202580440</a:t>
                </a: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2AA4844F-28A0-B8EF-15A3-B28A020E7E7F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Anya Anya 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E227F0E-C908-2935-2CEE-A2E1037FF1C7}"/>
                </a:ext>
              </a:extLst>
            </p:cNvPr>
            <p:cNvGrpSpPr/>
            <p:nvPr/>
          </p:nvGrpSpPr>
          <p:grpSpPr>
            <a:xfrm>
              <a:off x="-3773633" y="493722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247B9EED-28DD-2D34-F0B7-EC12DC151DDA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202483033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043B894E-DFE2-D54A-73C7-DE000E3C60B8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Md Minhajul Abedin 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BED96E9-716F-3A92-C951-32F7823C009A}"/>
                </a:ext>
              </a:extLst>
            </p:cNvPr>
            <p:cNvGrpSpPr/>
            <p:nvPr/>
          </p:nvGrpSpPr>
          <p:grpSpPr>
            <a:xfrm>
              <a:off x="-3773633" y="529390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E94656B9-9402-A604-D849-CFD98C1E16B8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202580740</a:t>
                </a:r>
              </a:p>
            </p:txBody>
          </p:sp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7AFED2E8-CF75-0B04-A845-81243AF91D28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Yi Zhang 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F25E8B5-D5DC-168B-4584-4D2E8C549111}"/>
                </a:ext>
              </a:extLst>
            </p:cNvPr>
            <p:cNvGrpSpPr/>
            <p:nvPr/>
          </p:nvGrpSpPr>
          <p:grpSpPr>
            <a:xfrm>
              <a:off x="-3773633" y="5650584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73389481-7A8C-8E4D-D3F3-CD10B33E6C5F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202581744</a:t>
                </a:r>
              </a:p>
            </p:txBody>
          </p:sp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21FC240B-414C-B551-FFA0-1D062B0B0C5C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Yixuan Liu </a:t>
                </a:r>
              </a:p>
            </p:txBody>
          </p:sp>
        </p:grp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6562C5D6-255A-7C61-E773-D059147DE6B6}"/>
              </a:ext>
            </a:extLst>
          </p:cNvPr>
          <p:cNvSpPr/>
          <p:nvPr/>
        </p:nvSpPr>
        <p:spPr>
          <a:xfrm>
            <a:off x="-2349846" y="3139099"/>
            <a:ext cx="141233" cy="1412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F5CD89F-9BC0-45A9-CD66-E219CED7206C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-2279230" y="3280332"/>
            <a:ext cx="0" cy="28640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04C473C-36BD-6A1F-A3F9-90D3B537AE18}"/>
              </a:ext>
            </a:extLst>
          </p:cNvPr>
          <p:cNvCxnSpPr>
            <a:cxnSpLocks/>
          </p:cNvCxnSpPr>
          <p:nvPr/>
        </p:nvCxnSpPr>
        <p:spPr>
          <a:xfrm flipH="1">
            <a:off x="-2285904" y="6137690"/>
            <a:ext cx="1983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FD15E58E-AD73-4B30-13B2-61B974BCCAD8}"/>
              </a:ext>
            </a:extLst>
          </p:cNvPr>
          <p:cNvSpPr/>
          <p:nvPr/>
        </p:nvSpPr>
        <p:spPr>
          <a:xfrm>
            <a:off x="0" y="6914722"/>
            <a:ext cx="12177102" cy="1162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6619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65382-3668-BFFB-2CFC-FED47CBA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!!Name Group">
            <a:extLst>
              <a:ext uri="{FF2B5EF4-FFF2-40B4-BE49-F238E27FC236}">
                <a16:creationId xmlns:a16="http://schemas.microsoft.com/office/drawing/2014/main" id="{03573FDD-2211-500C-617A-4677D8D17433}"/>
              </a:ext>
            </a:extLst>
          </p:cNvPr>
          <p:cNvGrpSpPr/>
          <p:nvPr/>
        </p:nvGrpSpPr>
        <p:grpSpPr>
          <a:xfrm>
            <a:off x="999844" y="3510503"/>
            <a:ext cx="3617512" cy="2460121"/>
            <a:chOff x="999844" y="3510503"/>
            <a:chExt cx="3617512" cy="246012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E29216-F5DF-AD08-3B33-23E809AEDC45}"/>
                </a:ext>
              </a:extLst>
            </p:cNvPr>
            <p:cNvGrpSpPr/>
            <p:nvPr/>
          </p:nvGrpSpPr>
          <p:grpSpPr>
            <a:xfrm>
              <a:off x="999844" y="351050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78418DBA-7286-E0D9-A6C1-41B93FCC1D0D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202580313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4B4EC567-B805-0455-928F-416607D45280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Olaiya Oluwatomisin 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19BBCDE-0A6E-42EE-5665-132A93EE2B68}"/>
                </a:ext>
              </a:extLst>
            </p:cNvPr>
            <p:cNvGrpSpPr/>
            <p:nvPr/>
          </p:nvGrpSpPr>
          <p:grpSpPr>
            <a:xfrm>
              <a:off x="999844" y="386718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A6334EA6-7923-C7A7-EA6D-BBD7823F9F8B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202580788</a:t>
                </a: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11E50D28-5901-A04E-DE79-A854A5B04EF3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Labib Islam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64736A0-372E-4ABE-2567-132A993C606F}"/>
                </a:ext>
              </a:extLst>
            </p:cNvPr>
            <p:cNvGrpSpPr/>
            <p:nvPr/>
          </p:nvGrpSpPr>
          <p:grpSpPr>
            <a:xfrm>
              <a:off x="999844" y="422386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D471276A-B1D6-F6EC-2B42-1124E1052251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202584000</a:t>
                </a:r>
              </a:p>
            </p:txBody>
          </p:sp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7174A120-9978-E98A-BC45-BEA2F762475C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Nafiur Rahman 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5F8F153-0EAF-5130-6C33-6F3CC0B359B3}"/>
                </a:ext>
              </a:extLst>
            </p:cNvPr>
            <p:cNvGrpSpPr/>
            <p:nvPr/>
          </p:nvGrpSpPr>
          <p:grpSpPr>
            <a:xfrm>
              <a:off x="999844" y="458054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93322547-D13A-9B16-A20C-C9475C5B6A0D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202580440</a:t>
                </a: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B2376F2B-35B2-8DCB-697A-18327A120252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Anya Anya 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56D3449-0344-C093-7137-28CEBD3B10E0}"/>
                </a:ext>
              </a:extLst>
            </p:cNvPr>
            <p:cNvGrpSpPr/>
            <p:nvPr/>
          </p:nvGrpSpPr>
          <p:grpSpPr>
            <a:xfrm>
              <a:off x="999844" y="493722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3D8E9002-2E5C-F0BD-CED9-E0AFAB695821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202483033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475E7668-9B41-D1FD-E0C0-5BE3EE3AB20B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Md Minhajul Abedin 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A69CA4-F8D6-8E6A-B197-E6CCB5AF0CD9}"/>
                </a:ext>
              </a:extLst>
            </p:cNvPr>
            <p:cNvGrpSpPr/>
            <p:nvPr/>
          </p:nvGrpSpPr>
          <p:grpSpPr>
            <a:xfrm>
              <a:off x="999844" y="529390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5943D283-7FEF-E679-B23F-387880063A11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202580740</a:t>
                </a:r>
              </a:p>
            </p:txBody>
          </p:sp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EBDF8012-CA5C-7172-83B0-0CB361BA6C72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Yi Zhang 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8D6B7EB-DF85-FEA8-7037-62DA7F4970A1}"/>
                </a:ext>
              </a:extLst>
            </p:cNvPr>
            <p:cNvGrpSpPr/>
            <p:nvPr/>
          </p:nvGrpSpPr>
          <p:grpSpPr>
            <a:xfrm>
              <a:off x="999844" y="5650584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1F978109-090C-AF61-AEAE-94F0922A6923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202581744</a:t>
                </a:r>
              </a:p>
            </p:txBody>
          </p:sp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021204A5-26A2-AA5B-C4A2-159684FF40E9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Yixuan Liu </a:t>
                </a:r>
              </a:p>
            </p:txBody>
          </p:sp>
        </p:grp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56DDD4C6-7F3A-571B-9F62-BD9FC3BA3F05}"/>
              </a:ext>
            </a:extLst>
          </p:cNvPr>
          <p:cNvSpPr/>
          <p:nvPr/>
        </p:nvSpPr>
        <p:spPr>
          <a:xfrm>
            <a:off x="8337596" y="3145072"/>
            <a:ext cx="3839523" cy="3301739"/>
          </a:xfrm>
          <a:custGeom>
            <a:avLst/>
            <a:gdLst/>
            <a:ahLst/>
            <a:cxnLst/>
            <a:rect l="l" t="t" r="r" b="b"/>
            <a:pathLst>
              <a:path w="4671759" h="4017408">
                <a:moveTo>
                  <a:pt x="0" y="0"/>
                </a:moveTo>
                <a:lnTo>
                  <a:pt x="4671759" y="0"/>
                </a:lnTo>
                <a:lnTo>
                  <a:pt x="4671759" y="4017408"/>
                </a:lnTo>
                <a:lnTo>
                  <a:pt x="0" y="401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2" t="-11571" r="-2117" b="-105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1B5BBEF3-2C28-4ACB-AAA4-0604F8B00F48}"/>
              </a:ext>
            </a:extLst>
          </p:cNvPr>
          <p:cNvSpPr/>
          <p:nvPr/>
        </p:nvSpPr>
        <p:spPr>
          <a:xfrm>
            <a:off x="4970493" y="1564092"/>
            <a:ext cx="3597111" cy="3150013"/>
          </a:xfrm>
          <a:custGeom>
            <a:avLst/>
            <a:gdLst/>
            <a:ahLst/>
            <a:cxnLst/>
            <a:rect l="l" t="t" r="r" b="b"/>
            <a:pathLst>
              <a:path w="5386979" h="4717411">
                <a:moveTo>
                  <a:pt x="0" y="0"/>
                </a:moveTo>
                <a:lnTo>
                  <a:pt x="5386979" y="0"/>
                </a:lnTo>
                <a:lnTo>
                  <a:pt x="5386979" y="4717412"/>
                </a:lnTo>
                <a:lnTo>
                  <a:pt x="0" y="4717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31" t="-11612" r="-5306" b="-126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AC2E9CF-1C94-CFAD-CD31-D98D0D10FABE}"/>
              </a:ext>
            </a:extLst>
          </p:cNvPr>
          <p:cNvSpPr/>
          <p:nvPr/>
        </p:nvSpPr>
        <p:spPr>
          <a:xfrm>
            <a:off x="8458803" y="411188"/>
            <a:ext cx="3597111" cy="2145827"/>
          </a:xfrm>
          <a:custGeom>
            <a:avLst/>
            <a:gdLst/>
            <a:ahLst/>
            <a:cxnLst/>
            <a:rect l="l" t="t" r="r" b="b"/>
            <a:pathLst>
              <a:path w="5280457" h="3150013">
                <a:moveTo>
                  <a:pt x="0" y="0"/>
                </a:moveTo>
                <a:lnTo>
                  <a:pt x="5280457" y="0"/>
                </a:lnTo>
                <a:lnTo>
                  <a:pt x="5280457" y="3150014"/>
                </a:lnTo>
                <a:lnTo>
                  <a:pt x="0" y="315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60" t="-552" r="-3973" b="-3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06BE3-7578-8ADC-20EF-673BF50EF6C4}"/>
              </a:ext>
            </a:extLst>
          </p:cNvPr>
          <p:cNvSpPr txBox="1"/>
          <p:nvPr/>
        </p:nvSpPr>
        <p:spPr>
          <a:xfrm>
            <a:off x="1159285" y="430294"/>
            <a:ext cx="5147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Courier New" panose="02070309020205020404" pitchFamily="49" charset="0"/>
              </a:rPr>
              <a:t>Student TradeHub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9EF42D-69AC-7F65-DF87-CA487F005F3B}"/>
              </a:ext>
            </a:extLst>
          </p:cNvPr>
          <p:cNvSpPr/>
          <p:nvPr/>
        </p:nvSpPr>
        <p:spPr>
          <a:xfrm>
            <a:off x="734030" y="651330"/>
            <a:ext cx="265814" cy="2658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9D8D69-3E51-DC6C-1261-5F021B872B00}"/>
              </a:ext>
            </a:extLst>
          </p:cNvPr>
          <p:cNvSpPr txBox="1"/>
          <p:nvPr/>
        </p:nvSpPr>
        <p:spPr>
          <a:xfrm>
            <a:off x="1194121" y="1135747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Montserrat" pitchFamily="2" charset="77"/>
              </a:rPr>
              <a:t>Group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238A4D-C54B-4FF2-A22F-EDEC9481BC06}"/>
              </a:ext>
            </a:extLst>
          </p:cNvPr>
          <p:cNvSpPr txBox="1"/>
          <p:nvPr/>
        </p:nvSpPr>
        <p:spPr>
          <a:xfrm>
            <a:off x="943501" y="3025050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Group Members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5A27E36-A0BA-9703-802B-F94C5071DFA0}"/>
              </a:ext>
            </a:extLst>
          </p:cNvPr>
          <p:cNvSpPr/>
          <p:nvPr/>
        </p:nvSpPr>
        <p:spPr>
          <a:xfrm>
            <a:off x="796321" y="3139099"/>
            <a:ext cx="141233" cy="1412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72B898-9669-5E02-7996-2AA4E6A6120C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866938" y="3280332"/>
            <a:ext cx="0" cy="28640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9DDC1E2-2A5C-6607-8056-7DEDA5BDA46F}"/>
              </a:ext>
            </a:extLst>
          </p:cNvPr>
          <p:cNvCxnSpPr>
            <a:cxnSpLocks/>
          </p:cNvCxnSpPr>
          <p:nvPr/>
        </p:nvCxnSpPr>
        <p:spPr>
          <a:xfrm flipH="1">
            <a:off x="860263" y="6137690"/>
            <a:ext cx="1983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FD4A958A-423A-CDFA-244B-4FA6894FFF93}"/>
              </a:ext>
            </a:extLst>
          </p:cNvPr>
          <p:cNvSpPr/>
          <p:nvPr/>
        </p:nvSpPr>
        <p:spPr>
          <a:xfrm>
            <a:off x="0" y="6758809"/>
            <a:ext cx="12192000" cy="1153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/>
          </a:p>
        </p:txBody>
      </p:sp>
      <p:sp>
        <p:nvSpPr>
          <p:cNvPr id="18" name="Blue Box">
            <a:extLst>
              <a:ext uri="{FF2B5EF4-FFF2-40B4-BE49-F238E27FC236}">
                <a16:creationId xmlns:a16="http://schemas.microsoft.com/office/drawing/2014/main" id="{97654DEE-5D0C-5745-F758-3F8919FDA9FE}"/>
              </a:ext>
            </a:extLst>
          </p:cNvPr>
          <p:cNvSpPr/>
          <p:nvPr/>
        </p:nvSpPr>
        <p:spPr>
          <a:xfrm>
            <a:off x="-5763636" y="0"/>
            <a:ext cx="4884516" cy="687483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5" name="!!Problem Statement">
            <a:extLst>
              <a:ext uri="{FF2B5EF4-FFF2-40B4-BE49-F238E27FC236}">
                <a16:creationId xmlns:a16="http://schemas.microsoft.com/office/drawing/2014/main" id="{00F81182-2071-034E-6DFA-9EB91F18D271}"/>
              </a:ext>
            </a:extLst>
          </p:cNvPr>
          <p:cNvSpPr txBox="1">
            <a:spLocks/>
          </p:cNvSpPr>
          <p:nvPr/>
        </p:nvSpPr>
        <p:spPr>
          <a:xfrm>
            <a:off x="-3750534" y="2766218"/>
            <a:ext cx="336751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  <a:t>Problem </a:t>
            </a:r>
            <a:br>
              <a:rPr lang="en-US" sz="4400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</a:b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  <a:t>Statement</a:t>
            </a:r>
          </a:p>
        </p:txBody>
      </p:sp>
      <p:cxnSp>
        <p:nvCxnSpPr>
          <p:cNvPr id="20" name="Yellow Line">
            <a:extLst>
              <a:ext uri="{FF2B5EF4-FFF2-40B4-BE49-F238E27FC236}">
                <a16:creationId xmlns:a16="http://schemas.microsoft.com/office/drawing/2014/main" id="{CF6CC06D-E104-0F40-EBBA-A5F46BA51895}"/>
              </a:ext>
            </a:extLst>
          </p:cNvPr>
          <p:cNvCxnSpPr>
            <a:cxnSpLocks/>
          </p:cNvCxnSpPr>
          <p:nvPr/>
        </p:nvCxnSpPr>
        <p:spPr>
          <a:xfrm>
            <a:off x="-6486809" y="2858944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557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62C4F2E3-3F72-987B-013C-D4158C6E1BF2}"/>
              </a:ext>
            </a:extLst>
          </p:cNvPr>
          <p:cNvSpPr txBox="1"/>
          <p:nvPr/>
        </p:nvSpPr>
        <p:spPr>
          <a:xfrm>
            <a:off x="-1062059" y="1135747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Montserrat" pitchFamily="2" charset="77"/>
              </a:rPr>
              <a:t>Group 5</a:t>
            </a:r>
          </a:p>
        </p:txBody>
      </p:sp>
      <p:grpSp>
        <p:nvGrpSpPr>
          <p:cNvPr id="87" name="!!Name Group">
            <a:extLst>
              <a:ext uri="{FF2B5EF4-FFF2-40B4-BE49-F238E27FC236}">
                <a16:creationId xmlns:a16="http://schemas.microsoft.com/office/drawing/2014/main" id="{DBD03275-CA1D-CB53-7815-2BAD1647BF94}"/>
              </a:ext>
            </a:extLst>
          </p:cNvPr>
          <p:cNvGrpSpPr/>
          <p:nvPr/>
        </p:nvGrpSpPr>
        <p:grpSpPr>
          <a:xfrm>
            <a:off x="-3978556" y="3510503"/>
            <a:ext cx="3617512" cy="2460121"/>
            <a:chOff x="999844" y="3510503"/>
            <a:chExt cx="3617512" cy="246012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6025415-8FD3-126A-2DE7-59E122E477A0}"/>
                </a:ext>
              </a:extLst>
            </p:cNvPr>
            <p:cNvGrpSpPr/>
            <p:nvPr/>
          </p:nvGrpSpPr>
          <p:grpSpPr>
            <a:xfrm>
              <a:off x="999844" y="351050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107" name="Rounded Rectangle 106">
                <a:extLst>
                  <a:ext uri="{FF2B5EF4-FFF2-40B4-BE49-F238E27FC236}">
                    <a16:creationId xmlns:a16="http://schemas.microsoft.com/office/drawing/2014/main" id="{D90DCBFA-7DE3-B013-48ED-9E1FA334475B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202580313</a:t>
                </a:r>
              </a:p>
            </p:txBody>
          </p:sp>
          <p:sp>
            <p:nvSpPr>
              <p:cNvPr id="108" name="Rounded Rectangle 107">
                <a:extLst>
                  <a:ext uri="{FF2B5EF4-FFF2-40B4-BE49-F238E27FC236}">
                    <a16:creationId xmlns:a16="http://schemas.microsoft.com/office/drawing/2014/main" id="{07E53236-C44C-4F0B-1A80-27BA579AA0E4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Olaiya Oluwatomisin 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A95F9F8-AE22-3FC6-CD06-EDDFB4F9E35B}"/>
                </a:ext>
              </a:extLst>
            </p:cNvPr>
            <p:cNvGrpSpPr/>
            <p:nvPr/>
          </p:nvGrpSpPr>
          <p:grpSpPr>
            <a:xfrm>
              <a:off x="999844" y="386718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A9705B23-47E9-67E3-4C58-D09B2796169A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202580788</a:t>
                </a:r>
              </a:p>
            </p:txBody>
          </p:sp>
          <p:sp>
            <p:nvSpPr>
              <p:cNvPr id="106" name="Rounded Rectangle 105">
                <a:extLst>
                  <a:ext uri="{FF2B5EF4-FFF2-40B4-BE49-F238E27FC236}">
                    <a16:creationId xmlns:a16="http://schemas.microsoft.com/office/drawing/2014/main" id="{6401A107-BF4D-626E-6FA4-2464B62D8EDD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Labib Islam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D4BB0ACE-F9F0-38F4-00AF-6DADCBDB1449}"/>
                </a:ext>
              </a:extLst>
            </p:cNvPr>
            <p:cNvGrpSpPr/>
            <p:nvPr/>
          </p:nvGrpSpPr>
          <p:grpSpPr>
            <a:xfrm>
              <a:off x="999844" y="422386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2D90A8F6-282A-5AE0-A90D-C5F73AA621F7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202584000</a:t>
                </a:r>
              </a:p>
            </p:txBody>
          </p:sp>
          <p:sp>
            <p:nvSpPr>
              <p:cNvPr id="104" name="Rounded Rectangle 103">
                <a:extLst>
                  <a:ext uri="{FF2B5EF4-FFF2-40B4-BE49-F238E27FC236}">
                    <a16:creationId xmlns:a16="http://schemas.microsoft.com/office/drawing/2014/main" id="{BA0411A6-F28A-5D4D-DF35-D4B40496B213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Nafiur Rahman 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16A6706-13EA-755B-9CCD-7EF974BE8EE4}"/>
                </a:ext>
              </a:extLst>
            </p:cNvPr>
            <p:cNvGrpSpPr/>
            <p:nvPr/>
          </p:nvGrpSpPr>
          <p:grpSpPr>
            <a:xfrm>
              <a:off x="999844" y="458054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3A3F7369-6780-8D96-41A0-E45826D1189C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202580440</a:t>
                </a:r>
              </a:p>
            </p:txBody>
          </p:sp>
          <p:sp>
            <p:nvSpPr>
              <p:cNvPr id="102" name="Rounded Rectangle 101">
                <a:extLst>
                  <a:ext uri="{FF2B5EF4-FFF2-40B4-BE49-F238E27FC236}">
                    <a16:creationId xmlns:a16="http://schemas.microsoft.com/office/drawing/2014/main" id="{C1F2768D-0341-51E2-C96E-8F39E29C92DE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Anya Anya 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30F48655-B6AA-5040-16A6-04520251EF28}"/>
                </a:ext>
              </a:extLst>
            </p:cNvPr>
            <p:cNvGrpSpPr/>
            <p:nvPr/>
          </p:nvGrpSpPr>
          <p:grpSpPr>
            <a:xfrm>
              <a:off x="999844" y="493722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99" name="Rounded Rectangle 98">
                <a:extLst>
                  <a:ext uri="{FF2B5EF4-FFF2-40B4-BE49-F238E27FC236}">
                    <a16:creationId xmlns:a16="http://schemas.microsoft.com/office/drawing/2014/main" id="{012326C9-2F17-5DA3-07FC-913F12D99B54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202483033</a:t>
                </a:r>
              </a:p>
            </p:txBody>
          </p:sp>
          <p:sp>
            <p:nvSpPr>
              <p:cNvPr id="100" name="Rounded Rectangle 99">
                <a:extLst>
                  <a:ext uri="{FF2B5EF4-FFF2-40B4-BE49-F238E27FC236}">
                    <a16:creationId xmlns:a16="http://schemas.microsoft.com/office/drawing/2014/main" id="{44751BE0-EBA4-986C-FD7D-6565A7AC8522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Md Minhajul Abedin 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BA4FA44-9CB2-463A-4CCD-DEE2E7F7E7F1}"/>
                </a:ext>
              </a:extLst>
            </p:cNvPr>
            <p:cNvGrpSpPr/>
            <p:nvPr/>
          </p:nvGrpSpPr>
          <p:grpSpPr>
            <a:xfrm>
              <a:off x="999844" y="5293903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598CFD23-88CF-B29F-D1B5-66C14FC33871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202580740</a:t>
                </a:r>
              </a:p>
            </p:txBody>
          </p:sp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8D2BE700-04F6-B20E-A11D-6C1B4C695837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Yi Zhang 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571EA018-577E-DAE2-AAF7-9AD14301242C}"/>
                </a:ext>
              </a:extLst>
            </p:cNvPr>
            <p:cNvGrpSpPr/>
            <p:nvPr/>
          </p:nvGrpSpPr>
          <p:grpSpPr>
            <a:xfrm>
              <a:off x="999844" y="5650584"/>
              <a:ext cx="3617512" cy="320040"/>
              <a:chOff x="999844" y="3393767"/>
              <a:chExt cx="3617512" cy="320040"/>
            </a:xfrm>
            <a:solidFill>
              <a:schemeClr val="bg1">
                <a:lumMod val="95000"/>
              </a:schemeClr>
            </a:solidFill>
          </p:grpSpPr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0346EBC3-C533-0021-2C86-342F1EA5842A}"/>
                  </a:ext>
                </a:extLst>
              </p:cNvPr>
              <p:cNvSpPr/>
              <p:nvPr/>
            </p:nvSpPr>
            <p:spPr>
              <a:xfrm>
                <a:off x="3031739" y="3393767"/>
                <a:ext cx="1585617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202581744</a:t>
                </a:r>
              </a:p>
            </p:txBody>
          </p:sp>
          <p:sp>
            <p:nvSpPr>
              <p:cNvPr id="96" name="Rounded Rectangle 95">
                <a:extLst>
                  <a:ext uri="{FF2B5EF4-FFF2-40B4-BE49-F238E27FC236}">
                    <a16:creationId xmlns:a16="http://schemas.microsoft.com/office/drawing/2014/main" id="{8B4736F8-4AC8-017A-66E0-D1EC417F19C9}"/>
                  </a:ext>
                </a:extLst>
              </p:cNvPr>
              <p:cNvSpPr/>
              <p:nvPr/>
            </p:nvSpPr>
            <p:spPr>
              <a:xfrm>
                <a:off x="999844" y="3393767"/>
                <a:ext cx="2187544" cy="320040"/>
              </a:xfrm>
              <a:prstGeom prst="roundRect">
                <a:avLst>
                  <a:gd name="adj" fmla="val 32236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Yixuan Liu </a:t>
                </a:r>
              </a:p>
            </p:txBody>
          </p:sp>
        </p:grpSp>
      </p:grpSp>
      <p:grpSp>
        <p:nvGrpSpPr>
          <p:cNvPr id="51" name="!!PS1">
            <a:extLst>
              <a:ext uri="{FF2B5EF4-FFF2-40B4-BE49-F238E27FC236}">
                <a16:creationId xmlns:a16="http://schemas.microsoft.com/office/drawing/2014/main" id="{B871CF0B-31F0-A63D-B34C-30409C2637CA}"/>
              </a:ext>
            </a:extLst>
          </p:cNvPr>
          <p:cNvGrpSpPr/>
          <p:nvPr/>
        </p:nvGrpSpPr>
        <p:grpSpPr>
          <a:xfrm>
            <a:off x="5165022" y="824332"/>
            <a:ext cx="6794339" cy="1516284"/>
            <a:chOff x="5150734" y="567159"/>
            <a:chExt cx="6794339" cy="1516284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113C13D-83FB-DC47-476E-4F40DF62F94A}"/>
                </a:ext>
              </a:extLst>
            </p:cNvPr>
            <p:cNvSpPr>
              <a:spLocks/>
            </p:cNvSpPr>
            <p:nvPr/>
          </p:nvSpPr>
          <p:spPr>
            <a:xfrm>
              <a:off x="5150734" y="567159"/>
              <a:ext cx="6794339" cy="1516284"/>
            </a:xfrm>
            <a:prstGeom prst="roundRect">
              <a:avLst/>
            </a:prstGeom>
            <a:solidFill>
              <a:srgbClr val="389DA2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2B8CAF-B952-F20C-2DA3-DDF64F87123F}"/>
                </a:ext>
              </a:extLst>
            </p:cNvPr>
            <p:cNvSpPr txBox="1"/>
            <p:nvPr/>
          </p:nvSpPr>
          <p:spPr>
            <a:xfrm>
              <a:off x="6794340" y="817470"/>
              <a:ext cx="496553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Clr>
                  <a:schemeClr val="accent1"/>
                </a:buClr>
                <a:buSzPct val="106000"/>
              </a:pPr>
              <a:r>
                <a:rPr lang="en-US" sz="2000" dirty="0">
                  <a:solidFill>
                    <a:schemeClr val="bg1"/>
                  </a:solidFill>
                </a:rPr>
                <a:t>No existing marketplace or trading platform for students at Memorial University (or similar institutions).</a:t>
              </a:r>
            </a:p>
          </p:txBody>
        </p:sp>
        <p:pic>
          <p:nvPicPr>
            <p:cNvPr id="9" name="Graphic 8" descr="Store with solid fill">
              <a:extLst>
                <a:ext uri="{FF2B5EF4-FFF2-40B4-BE49-F238E27FC236}">
                  <a16:creationId xmlns:a16="http://schemas.microsoft.com/office/drawing/2014/main" id="{03511064-709A-9539-227A-0344F7D96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25956" y="941999"/>
              <a:ext cx="797532" cy="797532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F947AA-5224-B79D-EF21-70E9AAF32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8022" y="981635"/>
              <a:ext cx="731960" cy="731960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842DD1E-BF16-B27E-C955-93CAAEE18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5346" y="1015255"/>
              <a:ext cx="731960" cy="731960"/>
            </a:xfrm>
            <a:prstGeom prst="line">
              <a:avLst/>
            </a:prstGeom>
            <a:ln w="60325">
              <a:solidFill>
                <a:srgbClr val="389D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!!PS2">
            <a:extLst>
              <a:ext uri="{FF2B5EF4-FFF2-40B4-BE49-F238E27FC236}">
                <a16:creationId xmlns:a16="http://schemas.microsoft.com/office/drawing/2014/main" id="{18F86FD3-4973-9ED6-1622-8D7EB927B976}"/>
              </a:ext>
            </a:extLst>
          </p:cNvPr>
          <p:cNvGrpSpPr/>
          <p:nvPr/>
        </p:nvGrpSpPr>
        <p:grpSpPr>
          <a:xfrm>
            <a:off x="5165022" y="2648079"/>
            <a:ext cx="6794339" cy="1516284"/>
            <a:chOff x="5150734" y="2333754"/>
            <a:chExt cx="6794339" cy="1516284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21B25D23-1174-7C32-30D9-3DEAB04EB02F}"/>
                </a:ext>
              </a:extLst>
            </p:cNvPr>
            <p:cNvSpPr>
              <a:spLocks/>
            </p:cNvSpPr>
            <p:nvPr/>
          </p:nvSpPr>
          <p:spPr>
            <a:xfrm>
              <a:off x="5150734" y="2333754"/>
              <a:ext cx="6794339" cy="1516284"/>
            </a:xfrm>
            <a:prstGeom prst="roundRect">
              <a:avLst/>
            </a:prstGeom>
            <a:solidFill>
              <a:srgbClr val="CF4D5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B5AFFA-6987-CD8F-EF43-3832DE6441F3}"/>
                </a:ext>
              </a:extLst>
            </p:cNvPr>
            <p:cNvSpPr txBox="1"/>
            <p:nvPr/>
          </p:nvSpPr>
          <p:spPr>
            <a:xfrm>
              <a:off x="6794340" y="2737953"/>
              <a:ext cx="496553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Clr>
                  <a:schemeClr val="accent1"/>
                </a:buClr>
                <a:buSzPct val="106000"/>
              </a:pPr>
              <a:r>
                <a:rPr lang="en-US" sz="2000" dirty="0">
                  <a:solidFill>
                    <a:schemeClr val="bg1"/>
                  </a:solidFill>
                </a:rPr>
                <a:t>Students risk scams when using open/public platforms.</a:t>
              </a:r>
            </a:p>
          </p:txBody>
        </p:sp>
        <p:pic>
          <p:nvPicPr>
            <p:cNvPr id="42" name="Graphic 41" descr="Stop with solid fill">
              <a:extLst>
                <a:ext uri="{FF2B5EF4-FFF2-40B4-BE49-F238E27FC236}">
                  <a16:creationId xmlns:a16="http://schemas.microsoft.com/office/drawing/2014/main" id="{54199890-8BE3-E77F-87D0-B0043AD9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66802" y="2662421"/>
              <a:ext cx="914400" cy="914400"/>
            </a:xfrm>
            <a:prstGeom prst="rect">
              <a:avLst/>
            </a:prstGeom>
          </p:spPr>
        </p:pic>
      </p:grpSp>
      <p:grpSp>
        <p:nvGrpSpPr>
          <p:cNvPr id="53" name="!!PS3">
            <a:extLst>
              <a:ext uri="{FF2B5EF4-FFF2-40B4-BE49-F238E27FC236}">
                <a16:creationId xmlns:a16="http://schemas.microsoft.com/office/drawing/2014/main" id="{91B6A2BA-DCEC-E5D9-CDCC-8214E5903642}"/>
              </a:ext>
            </a:extLst>
          </p:cNvPr>
          <p:cNvGrpSpPr/>
          <p:nvPr/>
        </p:nvGrpSpPr>
        <p:grpSpPr>
          <a:xfrm>
            <a:off x="5165022" y="4471826"/>
            <a:ext cx="6794339" cy="1516284"/>
            <a:chOff x="5150734" y="4100349"/>
            <a:chExt cx="6794339" cy="1516284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4599AFE-F358-120A-1725-8CE138E65D23}"/>
                </a:ext>
              </a:extLst>
            </p:cNvPr>
            <p:cNvSpPr>
              <a:spLocks/>
            </p:cNvSpPr>
            <p:nvPr/>
          </p:nvSpPr>
          <p:spPr>
            <a:xfrm>
              <a:off x="5150734" y="4100349"/>
              <a:ext cx="6794339" cy="15162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DCE5CD-366F-1E40-E247-AFA13775F8A8}"/>
                </a:ext>
              </a:extLst>
            </p:cNvPr>
            <p:cNvSpPr txBox="1"/>
            <p:nvPr/>
          </p:nvSpPr>
          <p:spPr>
            <a:xfrm>
              <a:off x="6794340" y="4350660"/>
              <a:ext cx="496553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Clr>
                  <a:schemeClr val="accent1"/>
                </a:buClr>
                <a:buSzPct val="106000"/>
              </a:pPr>
              <a:r>
                <a:rPr lang="en-US" sz="2000" dirty="0">
                  <a:solidFill>
                    <a:schemeClr val="bg1"/>
                  </a:solidFill>
                </a:rPr>
                <a:t>Lack of a trusted and affordable system for students to buy, sell, and trade items within their community</a:t>
              </a:r>
            </a:p>
          </p:txBody>
        </p:sp>
        <p:pic>
          <p:nvPicPr>
            <p:cNvPr id="46" name="Graphic 45" descr="Shield Tick with solid fill">
              <a:extLst>
                <a:ext uri="{FF2B5EF4-FFF2-40B4-BE49-F238E27FC236}">
                  <a16:creationId xmlns:a16="http://schemas.microsoft.com/office/drawing/2014/main" id="{B09C4D15-24C1-B8DF-65D8-7C286154C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4126" y="4401291"/>
              <a:ext cx="914400" cy="914400"/>
            </a:xfrm>
            <a:prstGeom prst="rect">
              <a:avLst/>
            </a:prstGeom>
          </p:spPr>
        </p:pic>
      </p:grpSp>
      <p:sp>
        <p:nvSpPr>
          <p:cNvPr id="54" name="Freeform 4">
            <a:extLst>
              <a:ext uri="{FF2B5EF4-FFF2-40B4-BE49-F238E27FC236}">
                <a16:creationId xmlns:a16="http://schemas.microsoft.com/office/drawing/2014/main" id="{789DACDE-D069-B6E7-9B7F-EF888BF8D4AF}"/>
              </a:ext>
            </a:extLst>
          </p:cNvPr>
          <p:cNvSpPr/>
          <p:nvPr/>
        </p:nvSpPr>
        <p:spPr>
          <a:xfrm>
            <a:off x="12543836" y="3145072"/>
            <a:ext cx="3839523" cy="3301739"/>
          </a:xfrm>
          <a:custGeom>
            <a:avLst/>
            <a:gdLst/>
            <a:ahLst/>
            <a:cxnLst/>
            <a:rect l="l" t="t" r="r" b="b"/>
            <a:pathLst>
              <a:path w="4671759" h="4017408">
                <a:moveTo>
                  <a:pt x="0" y="0"/>
                </a:moveTo>
                <a:lnTo>
                  <a:pt x="4671759" y="0"/>
                </a:lnTo>
                <a:lnTo>
                  <a:pt x="4671759" y="4017408"/>
                </a:lnTo>
                <a:lnTo>
                  <a:pt x="0" y="40174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62" t="-11571" r="-2117" b="-105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2">
            <a:extLst>
              <a:ext uri="{FF2B5EF4-FFF2-40B4-BE49-F238E27FC236}">
                <a16:creationId xmlns:a16="http://schemas.microsoft.com/office/drawing/2014/main" id="{36BD8943-CFE4-8732-1D47-0E6F0D4437E0}"/>
              </a:ext>
            </a:extLst>
          </p:cNvPr>
          <p:cNvSpPr/>
          <p:nvPr/>
        </p:nvSpPr>
        <p:spPr>
          <a:xfrm>
            <a:off x="4970493" y="7133606"/>
            <a:ext cx="3597111" cy="3150013"/>
          </a:xfrm>
          <a:custGeom>
            <a:avLst/>
            <a:gdLst/>
            <a:ahLst/>
            <a:cxnLst/>
            <a:rect l="l" t="t" r="r" b="b"/>
            <a:pathLst>
              <a:path w="5386979" h="4717411">
                <a:moveTo>
                  <a:pt x="0" y="0"/>
                </a:moveTo>
                <a:lnTo>
                  <a:pt x="5386979" y="0"/>
                </a:lnTo>
                <a:lnTo>
                  <a:pt x="5386979" y="4717412"/>
                </a:lnTo>
                <a:lnTo>
                  <a:pt x="0" y="47174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31" t="-11612" r="-5306" b="-126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3">
            <a:extLst>
              <a:ext uri="{FF2B5EF4-FFF2-40B4-BE49-F238E27FC236}">
                <a16:creationId xmlns:a16="http://schemas.microsoft.com/office/drawing/2014/main" id="{BB394701-6F7E-934B-B4A5-979617F92E93}"/>
              </a:ext>
            </a:extLst>
          </p:cNvPr>
          <p:cNvSpPr/>
          <p:nvPr/>
        </p:nvSpPr>
        <p:spPr>
          <a:xfrm>
            <a:off x="8458803" y="-2508677"/>
            <a:ext cx="3597111" cy="2145827"/>
          </a:xfrm>
          <a:custGeom>
            <a:avLst/>
            <a:gdLst/>
            <a:ahLst/>
            <a:cxnLst/>
            <a:rect l="l" t="t" r="r" b="b"/>
            <a:pathLst>
              <a:path w="5280457" h="3150013">
                <a:moveTo>
                  <a:pt x="0" y="0"/>
                </a:moveTo>
                <a:lnTo>
                  <a:pt x="5280457" y="0"/>
                </a:lnTo>
                <a:lnTo>
                  <a:pt x="5280457" y="3150014"/>
                </a:lnTo>
                <a:lnTo>
                  <a:pt x="0" y="31500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60" t="-552" r="-3973" b="-3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3063EE-0F61-38E6-1E8D-143259705388}"/>
              </a:ext>
            </a:extLst>
          </p:cNvPr>
          <p:cNvSpPr txBox="1"/>
          <p:nvPr/>
        </p:nvSpPr>
        <p:spPr>
          <a:xfrm>
            <a:off x="1159285" y="-851852"/>
            <a:ext cx="5147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Courier New" panose="02070309020205020404" pitchFamily="49" charset="0"/>
              </a:rPr>
              <a:t>Student TradeHub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EF5658C-599F-75B0-AB6C-99BC5E563C32}"/>
              </a:ext>
            </a:extLst>
          </p:cNvPr>
          <p:cNvSpPr/>
          <p:nvPr/>
        </p:nvSpPr>
        <p:spPr>
          <a:xfrm>
            <a:off x="-1353188" y="651330"/>
            <a:ext cx="265814" cy="26581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0167D6-6A24-6A18-748C-A9310DD38141}"/>
              </a:ext>
            </a:extLst>
          </p:cNvPr>
          <p:cNvSpPr txBox="1"/>
          <p:nvPr/>
        </p:nvSpPr>
        <p:spPr>
          <a:xfrm>
            <a:off x="-2955193" y="3025050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Group Members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DCE7D91-FB83-504B-170F-54FFEFE09E98}"/>
              </a:ext>
            </a:extLst>
          </p:cNvPr>
          <p:cNvSpPr/>
          <p:nvPr/>
        </p:nvSpPr>
        <p:spPr>
          <a:xfrm>
            <a:off x="-2349846" y="3139099"/>
            <a:ext cx="141233" cy="1412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F9C3245-3097-5900-209A-937DCCD998AE}"/>
              </a:ext>
            </a:extLst>
          </p:cNvPr>
          <p:cNvCxnSpPr>
            <a:cxnSpLocks/>
            <a:stCxn id="82" idx="4"/>
          </p:cNvCxnSpPr>
          <p:nvPr/>
        </p:nvCxnSpPr>
        <p:spPr>
          <a:xfrm>
            <a:off x="-2279230" y="3280332"/>
            <a:ext cx="0" cy="28640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41AFEB-CD72-B286-D0FB-1D7F3FF41BE1}"/>
              </a:ext>
            </a:extLst>
          </p:cNvPr>
          <p:cNvCxnSpPr>
            <a:cxnSpLocks/>
          </p:cNvCxnSpPr>
          <p:nvPr/>
        </p:nvCxnSpPr>
        <p:spPr>
          <a:xfrm flipH="1">
            <a:off x="-2285904" y="6137690"/>
            <a:ext cx="1983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CA2241E6-1678-23D4-FD83-656A2392896C}"/>
              </a:ext>
            </a:extLst>
          </p:cNvPr>
          <p:cNvSpPr/>
          <p:nvPr/>
        </p:nvSpPr>
        <p:spPr>
          <a:xfrm>
            <a:off x="0" y="6914722"/>
            <a:ext cx="12177102" cy="1162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lue Box">
            <a:extLst>
              <a:ext uri="{FF2B5EF4-FFF2-40B4-BE49-F238E27FC236}">
                <a16:creationId xmlns:a16="http://schemas.microsoft.com/office/drawing/2014/main" id="{FA9E64E8-62D9-49FE-BA81-C05E88B41B09}"/>
              </a:ext>
            </a:extLst>
          </p:cNvPr>
          <p:cNvSpPr/>
          <p:nvPr/>
        </p:nvSpPr>
        <p:spPr>
          <a:xfrm>
            <a:off x="0" y="0"/>
            <a:ext cx="4884516" cy="687483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Problem Statement">
            <a:extLst>
              <a:ext uri="{FF2B5EF4-FFF2-40B4-BE49-F238E27FC236}">
                <a16:creationId xmlns:a16="http://schemas.microsoft.com/office/drawing/2014/main" id="{F5D09D74-1EC9-6AA5-4802-4623A69FB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311" y="2766218"/>
            <a:ext cx="3367510" cy="1325563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  <a:t>Problem 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</a:b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  <a:t>Statement</a:t>
            </a:r>
          </a:p>
        </p:txBody>
      </p:sp>
      <p:cxnSp>
        <p:nvCxnSpPr>
          <p:cNvPr id="5" name="Yellow Line">
            <a:extLst>
              <a:ext uri="{FF2B5EF4-FFF2-40B4-BE49-F238E27FC236}">
                <a16:creationId xmlns:a16="http://schemas.microsoft.com/office/drawing/2014/main" id="{710EA33B-9820-0544-0AFE-A9A3A2723BA8}"/>
              </a:ext>
            </a:extLst>
          </p:cNvPr>
          <p:cNvCxnSpPr>
            <a:cxnSpLocks/>
          </p:cNvCxnSpPr>
          <p:nvPr/>
        </p:nvCxnSpPr>
        <p:spPr>
          <a:xfrm>
            <a:off x="677711" y="2858944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Solution Rectangle">
            <a:extLst>
              <a:ext uri="{FF2B5EF4-FFF2-40B4-BE49-F238E27FC236}">
                <a16:creationId xmlns:a16="http://schemas.microsoft.com/office/drawing/2014/main" id="{051E82B7-47AA-D69B-35E2-7DB4E58F1688}"/>
              </a:ext>
            </a:extLst>
          </p:cNvPr>
          <p:cNvSpPr/>
          <p:nvPr/>
        </p:nvSpPr>
        <p:spPr>
          <a:xfrm>
            <a:off x="12736323" y="0"/>
            <a:ext cx="12192000" cy="1632857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roposed Solution">
            <a:extLst>
              <a:ext uri="{FF2B5EF4-FFF2-40B4-BE49-F238E27FC236}">
                <a16:creationId xmlns:a16="http://schemas.microsoft.com/office/drawing/2014/main" id="{AF7F837D-BD47-A0ED-35A7-9AF57A9763FC}"/>
              </a:ext>
            </a:extLst>
          </p:cNvPr>
          <p:cNvSpPr txBox="1"/>
          <p:nvPr/>
        </p:nvSpPr>
        <p:spPr>
          <a:xfrm>
            <a:off x="772002" y="-1540785"/>
            <a:ext cx="49112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1845526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D4FE-CAAC-9977-C690-258792F4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B0FFC5D1-F3AE-63E7-3FFD-04ECAD18FD6E}"/>
              </a:ext>
            </a:extLst>
          </p:cNvPr>
          <p:cNvSpPr/>
          <p:nvPr/>
        </p:nvSpPr>
        <p:spPr>
          <a:xfrm>
            <a:off x="0" y="0"/>
            <a:ext cx="12192000" cy="1632857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81F4A"/>
              </a:solidFill>
            </a:endParaRPr>
          </a:p>
        </p:txBody>
      </p:sp>
      <p:sp>
        <p:nvSpPr>
          <p:cNvPr id="10" name="Blue Box">
            <a:extLst>
              <a:ext uri="{FF2B5EF4-FFF2-40B4-BE49-F238E27FC236}">
                <a16:creationId xmlns:a16="http://schemas.microsoft.com/office/drawing/2014/main" id="{07465A7A-FECD-3DEF-C8B2-136C94ACD34E}"/>
              </a:ext>
            </a:extLst>
          </p:cNvPr>
          <p:cNvSpPr/>
          <p:nvPr/>
        </p:nvSpPr>
        <p:spPr>
          <a:xfrm>
            <a:off x="-5124893" y="0"/>
            <a:ext cx="4884516" cy="687483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Problem Statement">
            <a:extLst>
              <a:ext uri="{FF2B5EF4-FFF2-40B4-BE49-F238E27FC236}">
                <a16:creationId xmlns:a16="http://schemas.microsoft.com/office/drawing/2014/main" id="{30B86D6B-59CE-B824-6B26-0FC578EE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50830" y="2766218"/>
            <a:ext cx="3367510" cy="1325563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  <a:t>Problem </a:t>
            </a:r>
            <a:br>
              <a:rPr lang="en-US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</a:b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Montserrat" pitchFamily="2" charset="77"/>
              </a:rPr>
              <a:t>Statement</a:t>
            </a:r>
          </a:p>
        </p:txBody>
      </p:sp>
      <p:cxnSp>
        <p:nvCxnSpPr>
          <p:cNvPr id="5" name="Yellow Line">
            <a:extLst>
              <a:ext uri="{FF2B5EF4-FFF2-40B4-BE49-F238E27FC236}">
                <a16:creationId xmlns:a16="http://schemas.microsoft.com/office/drawing/2014/main" id="{B359E849-055A-52AE-EC28-5AE8D10FC419}"/>
              </a:ext>
            </a:extLst>
          </p:cNvPr>
          <p:cNvCxnSpPr>
            <a:cxnSpLocks/>
          </p:cNvCxnSpPr>
          <p:nvPr/>
        </p:nvCxnSpPr>
        <p:spPr>
          <a:xfrm>
            <a:off x="-10453058" y="2858944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!!PS1">
            <a:extLst>
              <a:ext uri="{FF2B5EF4-FFF2-40B4-BE49-F238E27FC236}">
                <a16:creationId xmlns:a16="http://schemas.microsoft.com/office/drawing/2014/main" id="{54EB548C-1031-9146-C5C9-43E5E47A3840}"/>
              </a:ext>
            </a:extLst>
          </p:cNvPr>
          <p:cNvGrpSpPr/>
          <p:nvPr/>
        </p:nvGrpSpPr>
        <p:grpSpPr>
          <a:xfrm>
            <a:off x="5165022" y="-2922886"/>
            <a:ext cx="6794339" cy="1516284"/>
            <a:chOff x="5150734" y="567159"/>
            <a:chExt cx="6794339" cy="1516284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4938563-6C86-47A0-B1E2-88100480A7FD}"/>
                </a:ext>
              </a:extLst>
            </p:cNvPr>
            <p:cNvSpPr>
              <a:spLocks/>
            </p:cNvSpPr>
            <p:nvPr/>
          </p:nvSpPr>
          <p:spPr>
            <a:xfrm>
              <a:off x="5150734" y="567159"/>
              <a:ext cx="6794339" cy="1516284"/>
            </a:xfrm>
            <a:prstGeom prst="roundRect">
              <a:avLst/>
            </a:prstGeom>
            <a:solidFill>
              <a:srgbClr val="389DA2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6D6EEF-861D-8518-DEBD-A93BCFCBF8AB}"/>
                </a:ext>
              </a:extLst>
            </p:cNvPr>
            <p:cNvSpPr txBox="1"/>
            <p:nvPr/>
          </p:nvSpPr>
          <p:spPr>
            <a:xfrm>
              <a:off x="6794340" y="817470"/>
              <a:ext cx="496553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Clr>
                  <a:schemeClr val="accent1"/>
                </a:buClr>
                <a:buSzPct val="106000"/>
              </a:pPr>
              <a:r>
                <a:rPr lang="en-US" sz="2000" dirty="0">
                  <a:solidFill>
                    <a:schemeClr val="bg1"/>
                  </a:solidFill>
                </a:rPr>
                <a:t>No existing marketplace or trading platform for students at Memorial University (or similar institutions).</a:t>
              </a:r>
            </a:p>
          </p:txBody>
        </p:sp>
        <p:pic>
          <p:nvPicPr>
            <p:cNvPr id="9" name="Graphic 8" descr="Store with solid fill">
              <a:extLst>
                <a:ext uri="{FF2B5EF4-FFF2-40B4-BE49-F238E27FC236}">
                  <a16:creationId xmlns:a16="http://schemas.microsoft.com/office/drawing/2014/main" id="{38CFB14F-A3F3-2279-E5A0-431C75283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25956" y="941999"/>
              <a:ext cx="797532" cy="797532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0858AA-6A92-9335-F725-A599505D7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8022" y="981635"/>
              <a:ext cx="731960" cy="731960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C6E9EC-A950-A153-0B1E-1F4CB40EB7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5346" y="1015255"/>
              <a:ext cx="731960" cy="731960"/>
            </a:xfrm>
            <a:prstGeom prst="line">
              <a:avLst/>
            </a:prstGeom>
            <a:ln w="60325">
              <a:solidFill>
                <a:srgbClr val="389D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!!PS2">
            <a:extLst>
              <a:ext uri="{FF2B5EF4-FFF2-40B4-BE49-F238E27FC236}">
                <a16:creationId xmlns:a16="http://schemas.microsoft.com/office/drawing/2014/main" id="{E1D3CB55-E91C-3FD3-F206-C9C2240F9474}"/>
              </a:ext>
            </a:extLst>
          </p:cNvPr>
          <p:cNvGrpSpPr/>
          <p:nvPr/>
        </p:nvGrpSpPr>
        <p:grpSpPr>
          <a:xfrm>
            <a:off x="13075646" y="2648079"/>
            <a:ext cx="6794339" cy="1516284"/>
            <a:chOff x="5150734" y="2333754"/>
            <a:chExt cx="6794339" cy="1516284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0EE7F1B9-0385-F358-81DA-6F972326D038}"/>
                </a:ext>
              </a:extLst>
            </p:cNvPr>
            <p:cNvSpPr>
              <a:spLocks/>
            </p:cNvSpPr>
            <p:nvPr/>
          </p:nvSpPr>
          <p:spPr>
            <a:xfrm>
              <a:off x="5150734" y="2333754"/>
              <a:ext cx="6794339" cy="1516284"/>
            </a:xfrm>
            <a:prstGeom prst="roundRect">
              <a:avLst/>
            </a:prstGeom>
            <a:solidFill>
              <a:srgbClr val="CF4D5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32643DA-65CD-8AAD-9378-235F379FB4C9}"/>
                </a:ext>
              </a:extLst>
            </p:cNvPr>
            <p:cNvSpPr txBox="1"/>
            <p:nvPr/>
          </p:nvSpPr>
          <p:spPr>
            <a:xfrm>
              <a:off x="6794340" y="2737953"/>
              <a:ext cx="496553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Clr>
                  <a:schemeClr val="accent1"/>
                </a:buClr>
                <a:buSzPct val="106000"/>
              </a:pPr>
              <a:r>
                <a:rPr lang="en-US" sz="2000" dirty="0">
                  <a:solidFill>
                    <a:schemeClr val="bg1"/>
                  </a:solidFill>
                </a:rPr>
                <a:t>Students risk scams when using open/public platforms.</a:t>
              </a:r>
            </a:p>
          </p:txBody>
        </p:sp>
        <p:pic>
          <p:nvPicPr>
            <p:cNvPr id="42" name="Graphic 41" descr="Stop with solid fill">
              <a:extLst>
                <a:ext uri="{FF2B5EF4-FFF2-40B4-BE49-F238E27FC236}">
                  <a16:creationId xmlns:a16="http://schemas.microsoft.com/office/drawing/2014/main" id="{24E310E5-941E-87D9-ACD6-16BB0BAB4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66802" y="2662421"/>
              <a:ext cx="914400" cy="914400"/>
            </a:xfrm>
            <a:prstGeom prst="rect">
              <a:avLst/>
            </a:prstGeom>
          </p:spPr>
        </p:pic>
      </p:grpSp>
      <p:grpSp>
        <p:nvGrpSpPr>
          <p:cNvPr id="53" name="!!PS3">
            <a:extLst>
              <a:ext uri="{FF2B5EF4-FFF2-40B4-BE49-F238E27FC236}">
                <a16:creationId xmlns:a16="http://schemas.microsoft.com/office/drawing/2014/main" id="{F8D01D72-0359-FE06-185A-24D4E092211E}"/>
              </a:ext>
            </a:extLst>
          </p:cNvPr>
          <p:cNvGrpSpPr/>
          <p:nvPr/>
        </p:nvGrpSpPr>
        <p:grpSpPr>
          <a:xfrm>
            <a:off x="5165022" y="7108701"/>
            <a:ext cx="6794339" cy="1516284"/>
            <a:chOff x="5150734" y="4100349"/>
            <a:chExt cx="6794339" cy="1516284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634E344D-0E87-1CC7-CC97-D91897727CC8}"/>
                </a:ext>
              </a:extLst>
            </p:cNvPr>
            <p:cNvSpPr>
              <a:spLocks/>
            </p:cNvSpPr>
            <p:nvPr/>
          </p:nvSpPr>
          <p:spPr>
            <a:xfrm>
              <a:off x="5150734" y="4100349"/>
              <a:ext cx="6794339" cy="15162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45EA902-7565-D363-12D2-9D5830A76E3A}"/>
                </a:ext>
              </a:extLst>
            </p:cNvPr>
            <p:cNvSpPr txBox="1"/>
            <p:nvPr/>
          </p:nvSpPr>
          <p:spPr>
            <a:xfrm>
              <a:off x="6794340" y="4350660"/>
              <a:ext cx="496553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  <a:buClr>
                  <a:schemeClr val="accent1"/>
                </a:buClr>
                <a:buSzPct val="106000"/>
              </a:pPr>
              <a:r>
                <a:rPr lang="en-US" sz="2000" dirty="0">
                  <a:solidFill>
                    <a:schemeClr val="bg1"/>
                  </a:solidFill>
                </a:rPr>
                <a:t>Lack of a trusted and affordable system for students to buy, sell, and trade items within their community</a:t>
              </a:r>
            </a:p>
          </p:txBody>
        </p:sp>
        <p:pic>
          <p:nvPicPr>
            <p:cNvPr id="46" name="Graphic 45" descr="Shield Tick with solid fill">
              <a:extLst>
                <a:ext uri="{FF2B5EF4-FFF2-40B4-BE49-F238E27FC236}">
                  <a16:creationId xmlns:a16="http://schemas.microsoft.com/office/drawing/2014/main" id="{9A9C48D0-6B56-3CB2-E59A-1A4622E5F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4126" y="44012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F3048317-3EE2-8118-311D-4CD4C784EEAA}"/>
              </a:ext>
            </a:extLst>
          </p:cNvPr>
          <p:cNvSpPr txBox="1"/>
          <p:nvPr/>
        </p:nvSpPr>
        <p:spPr>
          <a:xfrm>
            <a:off x="772002" y="431708"/>
            <a:ext cx="49112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C8607-1FD0-5E89-B497-6D799DBB9FE1}"/>
              </a:ext>
            </a:extLst>
          </p:cNvPr>
          <p:cNvSpPr txBox="1"/>
          <p:nvPr/>
        </p:nvSpPr>
        <p:spPr>
          <a:xfrm>
            <a:off x="772002" y="1883168"/>
            <a:ext cx="11038919" cy="3917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Authentication &amp; Login (Student-only access via MUN email/ID)</a:t>
            </a:r>
          </a:p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CRUD Operations – for items, services, and user profiles</a:t>
            </a:r>
          </a:p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Search, Filter &amp; Categorize Items – by price, category, or condition.</a:t>
            </a:r>
          </a:p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Transaction History, Purchase &amp; Payment – record and track purchases securely.</a:t>
            </a:r>
          </a:p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Admin Functions – monitor listings and manage user access.</a:t>
            </a:r>
          </a:p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Order tracking system.</a:t>
            </a:r>
          </a:p>
          <a:p>
            <a:pPr marL="285750" indent="-285750">
              <a:lnSpc>
                <a:spcPct val="1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Reviews &amp; ratings for sellers and buyers.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8B2BF834-7C93-0BF2-6E7B-CF1187B9FEA3}"/>
              </a:ext>
            </a:extLst>
          </p:cNvPr>
          <p:cNvCxnSpPr>
            <a:cxnSpLocks/>
          </p:cNvCxnSpPr>
          <p:nvPr/>
        </p:nvCxnSpPr>
        <p:spPr>
          <a:xfrm>
            <a:off x="677711" y="579147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40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276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9BEE-910C-D8F7-A6AC-0511E0BD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AFEE8EE3-AD27-A4F7-5E10-850B9932C316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069821D6-633F-43B2-2B9F-F3B510398B09}"/>
              </a:ext>
            </a:extLst>
          </p:cNvPr>
          <p:cNvSpPr txBox="1"/>
          <p:nvPr/>
        </p:nvSpPr>
        <p:spPr>
          <a:xfrm>
            <a:off x="772002" y="160802"/>
            <a:ext cx="3429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System Flow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8E6DD0F6-0009-ACFC-600F-F47C95DF80C7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7383482D-BACB-29B7-ED2C-12670F3A8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59" y="1417002"/>
            <a:ext cx="10697925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42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456B5-EF4E-EA5C-3A28-C2446E34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7B3D1F06-77EC-EFDB-329B-D7C75B868146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C916EC69-A05E-8B76-CFC9-03C5A4B78CB3}"/>
              </a:ext>
            </a:extLst>
          </p:cNvPr>
          <p:cNvSpPr txBox="1"/>
          <p:nvPr/>
        </p:nvSpPr>
        <p:spPr>
          <a:xfrm>
            <a:off x="772002" y="160802"/>
            <a:ext cx="2950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Tech Stack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236346DB-7C5F-632D-4AF4-5AC3A1DD663E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Graphic 20">
            <a:extLst>
              <a:ext uri="{FF2B5EF4-FFF2-40B4-BE49-F238E27FC236}">
                <a16:creationId xmlns:a16="http://schemas.microsoft.com/office/drawing/2014/main" id="{150470F0-814A-C42C-B0EA-06CE8024A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59" y="7248448"/>
            <a:ext cx="10697925" cy="5225143"/>
          </a:xfrm>
          <a:prstGeom prst="rect">
            <a:avLst/>
          </a:prstGeom>
        </p:spPr>
      </p:pic>
      <p:sp>
        <p:nvSpPr>
          <p:cNvPr id="31" name="VC Background">
            <a:extLst>
              <a:ext uri="{FF2B5EF4-FFF2-40B4-BE49-F238E27FC236}">
                <a16:creationId xmlns:a16="http://schemas.microsoft.com/office/drawing/2014/main" id="{7D543E25-9EDB-4221-8B60-720CB49D3A1C}"/>
              </a:ext>
            </a:extLst>
          </p:cNvPr>
          <p:cNvSpPr/>
          <p:nvPr/>
        </p:nvSpPr>
        <p:spPr>
          <a:xfrm>
            <a:off x="-3355092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/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E Oval">
            <a:extLst>
              <a:ext uri="{FF2B5EF4-FFF2-40B4-BE49-F238E27FC236}">
                <a16:creationId xmlns:a16="http://schemas.microsoft.com/office/drawing/2014/main" id="{98FF4F53-7C52-ABDA-8AF0-86AC200D2F08}"/>
              </a:ext>
            </a:extLst>
          </p:cNvPr>
          <p:cNvSpPr/>
          <p:nvPr/>
        </p:nvSpPr>
        <p:spPr>
          <a:xfrm>
            <a:off x="1199943" y="1965915"/>
            <a:ext cx="293298" cy="293299"/>
          </a:xfrm>
          <a:prstGeom prst="ellipse">
            <a:avLst/>
          </a:prstGeom>
          <a:solidFill>
            <a:srgbClr val="389DA2"/>
          </a:solidFill>
          <a:ln w="19050">
            <a:solidFill>
              <a:srgbClr val="389DA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E Title">
            <a:extLst>
              <a:ext uri="{FF2B5EF4-FFF2-40B4-BE49-F238E27FC236}">
                <a16:creationId xmlns:a16="http://schemas.microsoft.com/office/drawing/2014/main" id="{8DBA48C9-AB7B-F8C9-9DE2-B8645BF61CF2}"/>
              </a:ext>
            </a:extLst>
          </p:cNvPr>
          <p:cNvSpPr txBox="1"/>
          <p:nvPr/>
        </p:nvSpPr>
        <p:spPr>
          <a:xfrm>
            <a:off x="1533881" y="1884635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Frontend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BE Oval">
            <a:extLst>
              <a:ext uri="{FF2B5EF4-FFF2-40B4-BE49-F238E27FC236}">
                <a16:creationId xmlns:a16="http://schemas.microsoft.com/office/drawing/2014/main" id="{222E2A28-1FE9-9CBD-10F9-AE3D582EF58B}"/>
              </a:ext>
            </a:extLst>
          </p:cNvPr>
          <p:cNvSpPr/>
          <p:nvPr/>
        </p:nvSpPr>
        <p:spPr>
          <a:xfrm>
            <a:off x="4751529" y="1965915"/>
            <a:ext cx="293298" cy="2932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 Title">
            <a:extLst>
              <a:ext uri="{FF2B5EF4-FFF2-40B4-BE49-F238E27FC236}">
                <a16:creationId xmlns:a16="http://schemas.microsoft.com/office/drawing/2014/main" id="{ADE6D708-94C5-5024-EA27-CDB0A7773BEE}"/>
              </a:ext>
            </a:extLst>
          </p:cNvPr>
          <p:cNvSpPr txBox="1"/>
          <p:nvPr/>
        </p:nvSpPr>
        <p:spPr>
          <a:xfrm>
            <a:off x="5085467" y="1884635"/>
            <a:ext cx="1402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DB Oval">
            <a:extLst>
              <a:ext uri="{FF2B5EF4-FFF2-40B4-BE49-F238E27FC236}">
                <a16:creationId xmlns:a16="http://schemas.microsoft.com/office/drawing/2014/main" id="{A3D9348F-3F10-2C58-4CB0-36AC01383990}"/>
              </a:ext>
            </a:extLst>
          </p:cNvPr>
          <p:cNvSpPr/>
          <p:nvPr/>
        </p:nvSpPr>
        <p:spPr>
          <a:xfrm>
            <a:off x="8300439" y="1977133"/>
            <a:ext cx="293298" cy="293299"/>
          </a:xfrm>
          <a:prstGeom prst="ellipse">
            <a:avLst/>
          </a:prstGeom>
          <a:solidFill>
            <a:srgbClr val="7030A0"/>
          </a:solidFill>
          <a:ln w="19050">
            <a:solidFill>
              <a:srgbClr val="602FA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B Title">
            <a:extLst>
              <a:ext uri="{FF2B5EF4-FFF2-40B4-BE49-F238E27FC236}">
                <a16:creationId xmlns:a16="http://schemas.microsoft.com/office/drawing/2014/main" id="{BEF5AB69-861D-BE6A-F49D-4F596B2B270A}"/>
              </a:ext>
            </a:extLst>
          </p:cNvPr>
          <p:cNvSpPr txBox="1"/>
          <p:nvPr/>
        </p:nvSpPr>
        <p:spPr>
          <a:xfrm>
            <a:off x="8634377" y="1895853"/>
            <a:ext cx="1529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VC Oval">
            <a:extLst>
              <a:ext uri="{FF2B5EF4-FFF2-40B4-BE49-F238E27FC236}">
                <a16:creationId xmlns:a16="http://schemas.microsoft.com/office/drawing/2014/main" id="{3E00904C-024B-CF39-D6D3-BB99D5284315}"/>
              </a:ext>
            </a:extLst>
          </p:cNvPr>
          <p:cNvSpPr/>
          <p:nvPr/>
        </p:nvSpPr>
        <p:spPr>
          <a:xfrm>
            <a:off x="1199943" y="3367816"/>
            <a:ext cx="293298" cy="29329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VC Title">
            <a:extLst>
              <a:ext uri="{FF2B5EF4-FFF2-40B4-BE49-F238E27FC236}">
                <a16:creationId xmlns:a16="http://schemas.microsoft.com/office/drawing/2014/main" id="{C94F66D0-CD4C-CB5B-722F-39D26FF0AC24}"/>
              </a:ext>
            </a:extLst>
          </p:cNvPr>
          <p:cNvSpPr txBox="1"/>
          <p:nvPr/>
        </p:nvSpPr>
        <p:spPr>
          <a:xfrm>
            <a:off x="1533880" y="3286536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Version Control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3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B36A4-AAA1-E781-49A5-7E31D422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D2FAA85D-C2A5-AB5C-3928-6B67835D1A8C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3D9E46E8-DC73-235B-8AEC-EFE6FF696CB1}"/>
              </a:ext>
            </a:extLst>
          </p:cNvPr>
          <p:cNvSpPr txBox="1"/>
          <p:nvPr/>
        </p:nvSpPr>
        <p:spPr>
          <a:xfrm>
            <a:off x="772002" y="160802"/>
            <a:ext cx="2950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Tech Stack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066BEE0D-3079-5FF7-956B-79D23E1D6931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E Background">
            <a:extLst>
              <a:ext uri="{FF2B5EF4-FFF2-40B4-BE49-F238E27FC236}">
                <a16:creationId xmlns:a16="http://schemas.microsoft.com/office/drawing/2014/main" id="{9935254F-4EE8-DA7C-0FC3-5AD0E99B2EDE}"/>
              </a:ext>
            </a:extLst>
          </p:cNvPr>
          <p:cNvSpPr/>
          <p:nvPr/>
        </p:nvSpPr>
        <p:spPr>
          <a:xfrm>
            <a:off x="991272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>
              <a:alpha val="25000"/>
            </a:srgbClr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VC Background">
            <a:extLst>
              <a:ext uri="{FF2B5EF4-FFF2-40B4-BE49-F238E27FC236}">
                <a16:creationId xmlns:a16="http://schemas.microsoft.com/office/drawing/2014/main" id="{C9A80B7C-DE01-61E8-925D-F6EEF42B1515}"/>
              </a:ext>
            </a:extLst>
          </p:cNvPr>
          <p:cNvSpPr/>
          <p:nvPr/>
        </p:nvSpPr>
        <p:spPr>
          <a:xfrm>
            <a:off x="991272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/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E Oval">
            <a:extLst>
              <a:ext uri="{FF2B5EF4-FFF2-40B4-BE49-F238E27FC236}">
                <a16:creationId xmlns:a16="http://schemas.microsoft.com/office/drawing/2014/main" id="{7DEB7B3A-8CED-34B3-B22B-563E443E0E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99943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9DA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E Title">
            <a:extLst>
              <a:ext uri="{FF2B5EF4-FFF2-40B4-BE49-F238E27FC236}">
                <a16:creationId xmlns:a16="http://schemas.microsoft.com/office/drawing/2014/main" id="{7D859874-37AC-FF0C-714F-EC75702CEF67}"/>
              </a:ext>
            </a:extLst>
          </p:cNvPr>
          <p:cNvSpPr txBox="1"/>
          <p:nvPr/>
        </p:nvSpPr>
        <p:spPr>
          <a:xfrm>
            <a:off x="1533881" y="1884635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Frontend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FE Description">
            <a:extLst>
              <a:ext uri="{FF2B5EF4-FFF2-40B4-BE49-F238E27FC236}">
                <a16:creationId xmlns:a16="http://schemas.microsoft.com/office/drawing/2014/main" id="{9688F0D3-F876-A6C0-C32C-516F659EF2BD}"/>
              </a:ext>
            </a:extLst>
          </p:cNvPr>
          <p:cNvSpPr txBox="1"/>
          <p:nvPr/>
        </p:nvSpPr>
        <p:spPr>
          <a:xfrm>
            <a:off x="1217561" y="2569792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NextJS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Tailwind CSS</a:t>
            </a:r>
          </a:p>
        </p:txBody>
      </p:sp>
      <p:sp>
        <p:nvSpPr>
          <p:cNvPr id="14" name="BE Oval">
            <a:extLst>
              <a:ext uri="{FF2B5EF4-FFF2-40B4-BE49-F238E27FC236}">
                <a16:creationId xmlns:a16="http://schemas.microsoft.com/office/drawing/2014/main" id="{B1E078DF-2DC5-6B83-D82D-C292BBB9819B}"/>
              </a:ext>
            </a:extLst>
          </p:cNvPr>
          <p:cNvSpPr/>
          <p:nvPr/>
        </p:nvSpPr>
        <p:spPr>
          <a:xfrm>
            <a:off x="4751529" y="1965915"/>
            <a:ext cx="293298" cy="2932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 Title">
            <a:extLst>
              <a:ext uri="{FF2B5EF4-FFF2-40B4-BE49-F238E27FC236}">
                <a16:creationId xmlns:a16="http://schemas.microsoft.com/office/drawing/2014/main" id="{88017B96-E584-C4D2-EA23-3EA1188102E5}"/>
              </a:ext>
            </a:extLst>
          </p:cNvPr>
          <p:cNvSpPr txBox="1"/>
          <p:nvPr/>
        </p:nvSpPr>
        <p:spPr>
          <a:xfrm>
            <a:off x="5085467" y="1884635"/>
            <a:ext cx="1402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DB Oval">
            <a:extLst>
              <a:ext uri="{FF2B5EF4-FFF2-40B4-BE49-F238E27FC236}">
                <a16:creationId xmlns:a16="http://schemas.microsoft.com/office/drawing/2014/main" id="{49DB819F-8077-1566-19BE-476EE778EB0B}"/>
              </a:ext>
            </a:extLst>
          </p:cNvPr>
          <p:cNvSpPr/>
          <p:nvPr/>
        </p:nvSpPr>
        <p:spPr>
          <a:xfrm>
            <a:off x="8300439" y="1977133"/>
            <a:ext cx="293298" cy="293299"/>
          </a:xfrm>
          <a:prstGeom prst="ellipse">
            <a:avLst/>
          </a:prstGeom>
          <a:solidFill>
            <a:srgbClr val="7030A0"/>
          </a:solidFill>
          <a:ln w="19050">
            <a:solidFill>
              <a:srgbClr val="602FA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B Title">
            <a:extLst>
              <a:ext uri="{FF2B5EF4-FFF2-40B4-BE49-F238E27FC236}">
                <a16:creationId xmlns:a16="http://schemas.microsoft.com/office/drawing/2014/main" id="{0E74FC6C-3924-6039-AAE7-48E3C408718B}"/>
              </a:ext>
            </a:extLst>
          </p:cNvPr>
          <p:cNvSpPr txBox="1"/>
          <p:nvPr/>
        </p:nvSpPr>
        <p:spPr>
          <a:xfrm>
            <a:off x="8634377" y="1895853"/>
            <a:ext cx="1529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VC Oval">
            <a:extLst>
              <a:ext uri="{FF2B5EF4-FFF2-40B4-BE49-F238E27FC236}">
                <a16:creationId xmlns:a16="http://schemas.microsoft.com/office/drawing/2014/main" id="{0BC9418F-EA9B-F5E8-A1C1-B2DDABA0537F}"/>
              </a:ext>
            </a:extLst>
          </p:cNvPr>
          <p:cNvSpPr/>
          <p:nvPr/>
        </p:nvSpPr>
        <p:spPr>
          <a:xfrm>
            <a:off x="1199943" y="4662227"/>
            <a:ext cx="293298" cy="29329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VC Title">
            <a:extLst>
              <a:ext uri="{FF2B5EF4-FFF2-40B4-BE49-F238E27FC236}">
                <a16:creationId xmlns:a16="http://schemas.microsoft.com/office/drawing/2014/main" id="{BB75D86E-624D-3ABF-3D34-857D088DFD16}"/>
              </a:ext>
            </a:extLst>
          </p:cNvPr>
          <p:cNvSpPr txBox="1"/>
          <p:nvPr/>
        </p:nvSpPr>
        <p:spPr>
          <a:xfrm>
            <a:off x="1533880" y="4580947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Version Control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0BD90EC-F21E-43A3-530C-0DA01F702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9680" y="2005652"/>
            <a:ext cx="213824" cy="2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45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7298-BCE5-D337-AEF0-E6488914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D2611DCB-C8D5-30CE-F234-6F9BFB7040E5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425A89AA-1E9C-42B0-F6DE-F564EABCC3DD}"/>
              </a:ext>
            </a:extLst>
          </p:cNvPr>
          <p:cNvSpPr txBox="1"/>
          <p:nvPr/>
        </p:nvSpPr>
        <p:spPr>
          <a:xfrm>
            <a:off x="772002" y="160802"/>
            <a:ext cx="2950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Tech Stack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2F6440E2-15F0-43E5-47CA-3B72F52FCD1E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E Background">
            <a:extLst>
              <a:ext uri="{FF2B5EF4-FFF2-40B4-BE49-F238E27FC236}">
                <a16:creationId xmlns:a16="http://schemas.microsoft.com/office/drawing/2014/main" id="{1B891E26-18BD-587A-CEA4-5DF8AF0576AE}"/>
              </a:ext>
            </a:extLst>
          </p:cNvPr>
          <p:cNvSpPr/>
          <p:nvPr/>
        </p:nvSpPr>
        <p:spPr>
          <a:xfrm>
            <a:off x="991272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>
              <a:alpha val="25000"/>
            </a:srgbClr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E Oval">
            <a:extLst>
              <a:ext uri="{FF2B5EF4-FFF2-40B4-BE49-F238E27FC236}">
                <a16:creationId xmlns:a16="http://schemas.microsoft.com/office/drawing/2014/main" id="{A99A6288-5D8C-6408-4CE0-300312C4C727}"/>
              </a:ext>
            </a:extLst>
          </p:cNvPr>
          <p:cNvSpPr/>
          <p:nvPr/>
        </p:nvSpPr>
        <p:spPr>
          <a:xfrm>
            <a:off x="1199943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9DA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E Title">
            <a:extLst>
              <a:ext uri="{FF2B5EF4-FFF2-40B4-BE49-F238E27FC236}">
                <a16:creationId xmlns:a16="http://schemas.microsoft.com/office/drawing/2014/main" id="{91156E4E-A6C1-870C-0B24-E926662CB543}"/>
              </a:ext>
            </a:extLst>
          </p:cNvPr>
          <p:cNvSpPr txBox="1"/>
          <p:nvPr/>
        </p:nvSpPr>
        <p:spPr>
          <a:xfrm>
            <a:off x="1533881" y="1884635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Frontend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E Description">
            <a:extLst>
              <a:ext uri="{FF2B5EF4-FFF2-40B4-BE49-F238E27FC236}">
                <a16:creationId xmlns:a16="http://schemas.microsoft.com/office/drawing/2014/main" id="{A11F1805-EF77-E936-582B-8548356A078D}"/>
              </a:ext>
            </a:extLst>
          </p:cNvPr>
          <p:cNvSpPr txBox="1"/>
          <p:nvPr/>
        </p:nvSpPr>
        <p:spPr>
          <a:xfrm>
            <a:off x="1217561" y="2569792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Tailwind CSS</a:t>
            </a:r>
          </a:p>
        </p:txBody>
      </p:sp>
      <p:sp>
        <p:nvSpPr>
          <p:cNvPr id="13" name="BE Background">
            <a:extLst>
              <a:ext uri="{FF2B5EF4-FFF2-40B4-BE49-F238E27FC236}">
                <a16:creationId xmlns:a16="http://schemas.microsoft.com/office/drawing/2014/main" id="{D6B4C86E-66EB-D854-3CD9-19CBF844E223}"/>
              </a:ext>
            </a:extLst>
          </p:cNvPr>
          <p:cNvSpPr/>
          <p:nvPr/>
        </p:nvSpPr>
        <p:spPr>
          <a:xfrm>
            <a:off x="4542858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chemeClr val="accent2">
              <a:lumMod val="60000"/>
              <a:lumOff val="40000"/>
              <a:alpha val="25000"/>
            </a:schemeClr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VC Background">
            <a:extLst>
              <a:ext uri="{FF2B5EF4-FFF2-40B4-BE49-F238E27FC236}">
                <a16:creationId xmlns:a16="http://schemas.microsoft.com/office/drawing/2014/main" id="{12215574-E320-97AE-7195-5F9CC9ADFD36}"/>
              </a:ext>
            </a:extLst>
          </p:cNvPr>
          <p:cNvSpPr/>
          <p:nvPr/>
        </p:nvSpPr>
        <p:spPr>
          <a:xfrm>
            <a:off x="4541520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DC5C1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E Oval">
            <a:extLst>
              <a:ext uri="{FF2B5EF4-FFF2-40B4-BE49-F238E27FC236}">
                <a16:creationId xmlns:a16="http://schemas.microsoft.com/office/drawing/2014/main" id="{4AD3F01C-9693-E6F5-C3CD-8408807437E1}"/>
              </a:ext>
            </a:extLst>
          </p:cNvPr>
          <p:cNvSpPr/>
          <p:nvPr/>
        </p:nvSpPr>
        <p:spPr>
          <a:xfrm>
            <a:off x="4751529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 Title">
            <a:extLst>
              <a:ext uri="{FF2B5EF4-FFF2-40B4-BE49-F238E27FC236}">
                <a16:creationId xmlns:a16="http://schemas.microsoft.com/office/drawing/2014/main" id="{5FE4DD2A-60E2-A0B7-C0C3-DD7C95F66033}"/>
              </a:ext>
            </a:extLst>
          </p:cNvPr>
          <p:cNvSpPr txBox="1"/>
          <p:nvPr/>
        </p:nvSpPr>
        <p:spPr>
          <a:xfrm>
            <a:off x="5085467" y="1884635"/>
            <a:ext cx="1402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Backend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BE Description">
            <a:extLst>
              <a:ext uri="{FF2B5EF4-FFF2-40B4-BE49-F238E27FC236}">
                <a16:creationId xmlns:a16="http://schemas.microsoft.com/office/drawing/2014/main" id="{2A742778-8628-2B39-F159-AD5BAFA8C690}"/>
              </a:ext>
            </a:extLst>
          </p:cNvPr>
          <p:cNvSpPr txBox="1"/>
          <p:nvPr/>
        </p:nvSpPr>
        <p:spPr>
          <a:xfrm>
            <a:off x="4751529" y="2673175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NodeJS (Framework: ExpressJS)</a:t>
            </a:r>
          </a:p>
        </p:txBody>
      </p:sp>
      <p:sp>
        <p:nvSpPr>
          <p:cNvPr id="18" name="DB Oval">
            <a:extLst>
              <a:ext uri="{FF2B5EF4-FFF2-40B4-BE49-F238E27FC236}">
                <a16:creationId xmlns:a16="http://schemas.microsoft.com/office/drawing/2014/main" id="{94D7D067-3696-1B1A-4E45-B7564FB53E6B}"/>
              </a:ext>
            </a:extLst>
          </p:cNvPr>
          <p:cNvSpPr/>
          <p:nvPr/>
        </p:nvSpPr>
        <p:spPr>
          <a:xfrm>
            <a:off x="8300439" y="1977133"/>
            <a:ext cx="293298" cy="293299"/>
          </a:xfrm>
          <a:prstGeom prst="ellipse">
            <a:avLst/>
          </a:prstGeom>
          <a:solidFill>
            <a:srgbClr val="7030A0"/>
          </a:solidFill>
          <a:ln w="19050">
            <a:solidFill>
              <a:srgbClr val="602FA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B Title">
            <a:extLst>
              <a:ext uri="{FF2B5EF4-FFF2-40B4-BE49-F238E27FC236}">
                <a16:creationId xmlns:a16="http://schemas.microsoft.com/office/drawing/2014/main" id="{50FD070F-D3F4-A8B2-DB59-38EF52D043BE}"/>
              </a:ext>
            </a:extLst>
          </p:cNvPr>
          <p:cNvSpPr txBox="1"/>
          <p:nvPr/>
        </p:nvSpPr>
        <p:spPr>
          <a:xfrm>
            <a:off x="8634377" y="1895853"/>
            <a:ext cx="1529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VC Oval">
            <a:extLst>
              <a:ext uri="{FF2B5EF4-FFF2-40B4-BE49-F238E27FC236}">
                <a16:creationId xmlns:a16="http://schemas.microsoft.com/office/drawing/2014/main" id="{D2C9DA6D-CB80-8E9D-33F7-0CAD6889B138}"/>
              </a:ext>
            </a:extLst>
          </p:cNvPr>
          <p:cNvSpPr/>
          <p:nvPr/>
        </p:nvSpPr>
        <p:spPr>
          <a:xfrm>
            <a:off x="1199943" y="4662227"/>
            <a:ext cx="293298" cy="29329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VC Title">
            <a:extLst>
              <a:ext uri="{FF2B5EF4-FFF2-40B4-BE49-F238E27FC236}">
                <a16:creationId xmlns:a16="http://schemas.microsoft.com/office/drawing/2014/main" id="{7C5D9959-E8AA-404E-32A2-753FCA3B57DF}"/>
              </a:ext>
            </a:extLst>
          </p:cNvPr>
          <p:cNvSpPr txBox="1"/>
          <p:nvPr/>
        </p:nvSpPr>
        <p:spPr>
          <a:xfrm>
            <a:off x="1533880" y="4580947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Version Control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406FAB-5872-EB67-BD45-659D8111D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8636" y="2001954"/>
            <a:ext cx="239083" cy="23908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7E339E-E6C5-B6C4-3901-356C3222F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9680" y="2005652"/>
            <a:ext cx="213824" cy="2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03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A166-9567-85A5-DED7-58BDF9D1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335DA5F2-1A3B-42E3-BBBD-76BAAB7DDB5B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1485B73D-17C7-88CA-D4A6-61835883E7A0}"/>
              </a:ext>
            </a:extLst>
          </p:cNvPr>
          <p:cNvSpPr txBox="1"/>
          <p:nvPr/>
        </p:nvSpPr>
        <p:spPr>
          <a:xfrm>
            <a:off x="772002" y="160802"/>
            <a:ext cx="2950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Tech Stack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86462924-54E9-8E06-F5A0-CB5A94BA0CE7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E Background">
            <a:extLst>
              <a:ext uri="{FF2B5EF4-FFF2-40B4-BE49-F238E27FC236}">
                <a16:creationId xmlns:a16="http://schemas.microsoft.com/office/drawing/2014/main" id="{75A40EFB-817B-DA71-5875-42CD032CB0F0}"/>
              </a:ext>
            </a:extLst>
          </p:cNvPr>
          <p:cNvSpPr/>
          <p:nvPr/>
        </p:nvSpPr>
        <p:spPr>
          <a:xfrm>
            <a:off x="991272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>
              <a:alpha val="25000"/>
            </a:srgbClr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E Oval">
            <a:extLst>
              <a:ext uri="{FF2B5EF4-FFF2-40B4-BE49-F238E27FC236}">
                <a16:creationId xmlns:a16="http://schemas.microsoft.com/office/drawing/2014/main" id="{160A30A4-7B1A-E154-5521-479CA78724E5}"/>
              </a:ext>
            </a:extLst>
          </p:cNvPr>
          <p:cNvSpPr/>
          <p:nvPr/>
        </p:nvSpPr>
        <p:spPr>
          <a:xfrm>
            <a:off x="1199943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9DA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E Title">
            <a:extLst>
              <a:ext uri="{FF2B5EF4-FFF2-40B4-BE49-F238E27FC236}">
                <a16:creationId xmlns:a16="http://schemas.microsoft.com/office/drawing/2014/main" id="{B631AF53-CB09-3CC7-A208-F311E029B54E}"/>
              </a:ext>
            </a:extLst>
          </p:cNvPr>
          <p:cNvSpPr txBox="1"/>
          <p:nvPr/>
        </p:nvSpPr>
        <p:spPr>
          <a:xfrm>
            <a:off x="1533881" y="1884635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Frontend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E Description">
            <a:extLst>
              <a:ext uri="{FF2B5EF4-FFF2-40B4-BE49-F238E27FC236}">
                <a16:creationId xmlns:a16="http://schemas.microsoft.com/office/drawing/2014/main" id="{6EED03D6-72E1-146E-C5C6-D56DE2D292AE}"/>
              </a:ext>
            </a:extLst>
          </p:cNvPr>
          <p:cNvSpPr txBox="1"/>
          <p:nvPr/>
        </p:nvSpPr>
        <p:spPr>
          <a:xfrm>
            <a:off x="1217561" y="2569792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Tailwind CSS</a:t>
            </a:r>
          </a:p>
        </p:txBody>
      </p:sp>
      <p:sp>
        <p:nvSpPr>
          <p:cNvPr id="13" name="BE Background">
            <a:extLst>
              <a:ext uri="{FF2B5EF4-FFF2-40B4-BE49-F238E27FC236}">
                <a16:creationId xmlns:a16="http://schemas.microsoft.com/office/drawing/2014/main" id="{0BC78B32-5C29-602E-B111-CB4D986AC920}"/>
              </a:ext>
            </a:extLst>
          </p:cNvPr>
          <p:cNvSpPr/>
          <p:nvPr/>
        </p:nvSpPr>
        <p:spPr>
          <a:xfrm>
            <a:off x="4542858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chemeClr val="accent2">
              <a:lumMod val="60000"/>
              <a:lumOff val="40000"/>
              <a:alpha val="25000"/>
            </a:schemeClr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E Oval">
            <a:extLst>
              <a:ext uri="{FF2B5EF4-FFF2-40B4-BE49-F238E27FC236}">
                <a16:creationId xmlns:a16="http://schemas.microsoft.com/office/drawing/2014/main" id="{1FFAAB52-0A05-5F30-807C-5D21EF303CFC}"/>
              </a:ext>
            </a:extLst>
          </p:cNvPr>
          <p:cNvSpPr/>
          <p:nvPr/>
        </p:nvSpPr>
        <p:spPr>
          <a:xfrm>
            <a:off x="4751529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 Title">
            <a:extLst>
              <a:ext uri="{FF2B5EF4-FFF2-40B4-BE49-F238E27FC236}">
                <a16:creationId xmlns:a16="http://schemas.microsoft.com/office/drawing/2014/main" id="{C1B9D050-6B26-D782-DB04-63D54354ED60}"/>
              </a:ext>
            </a:extLst>
          </p:cNvPr>
          <p:cNvSpPr txBox="1"/>
          <p:nvPr/>
        </p:nvSpPr>
        <p:spPr>
          <a:xfrm>
            <a:off x="5085467" y="1884635"/>
            <a:ext cx="1402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BE Description">
            <a:extLst>
              <a:ext uri="{FF2B5EF4-FFF2-40B4-BE49-F238E27FC236}">
                <a16:creationId xmlns:a16="http://schemas.microsoft.com/office/drawing/2014/main" id="{1F9D9A8D-2605-8F99-BBCC-B65D6A7B863F}"/>
              </a:ext>
            </a:extLst>
          </p:cNvPr>
          <p:cNvSpPr txBox="1"/>
          <p:nvPr/>
        </p:nvSpPr>
        <p:spPr>
          <a:xfrm>
            <a:off x="4751529" y="2673175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NodeJS (Framework: ExpressJS)</a:t>
            </a:r>
          </a:p>
        </p:txBody>
      </p:sp>
      <p:sp>
        <p:nvSpPr>
          <p:cNvPr id="17" name="DB Background">
            <a:extLst>
              <a:ext uri="{FF2B5EF4-FFF2-40B4-BE49-F238E27FC236}">
                <a16:creationId xmlns:a16="http://schemas.microsoft.com/office/drawing/2014/main" id="{698BDF6B-3AAA-1035-255C-0571C6732384}"/>
              </a:ext>
            </a:extLst>
          </p:cNvPr>
          <p:cNvSpPr/>
          <p:nvPr/>
        </p:nvSpPr>
        <p:spPr>
          <a:xfrm>
            <a:off x="8091768" y="1778150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602FA0">
              <a:alpha val="20000"/>
            </a:srgbClr>
          </a:solidFill>
          <a:ln w="15875">
            <a:solidFill>
              <a:srgbClr val="602F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VC Background">
            <a:extLst>
              <a:ext uri="{FF2B5EF4-FFF2-40B4-BE49-F238E27FC236}">
                <a16:creationId xmlns:a16="http://schemas.microsoft.com/office/drawing/2014/main" id="{729A33F6-ACDD-76EF-8B42-D6C422E54387}"/>
              </a:ext>
            </a:extLst>
          </p:cNvPr>
          <p:cNvSpPr/>
          <p:nvPr/>
        </p:nvSpPr>
        <p:spPr>
          <a:xfrm>
            <a:off x="8091768" y="1778150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602FA0">
              <a:alpha val="96000"/>
            </a:srgbClr>
          </a:solidFill>
          <a:ln w="15875">
            <a:solidFill>
              <a:srgbClr val="602F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DB Oval">
            <a:extLst>
              <a:ext uri="{FF2B5EF4-FFF2-40B4-BE49-F238E27FC236}">
                <a16:creationId xmlns:a16="http://schemas.microsoft.com/office/drawing/2014/main" id="{E626701B-4774-7366-DE04-52171AA3D7F4}"/>
              </a:ext>
            </a:extLst>
          </p:cNvPr>
          <p:cNvSpPr/>
          <p:nvPr/>
        </p:nvSpPr>
        <p:spPr>
          <a:xfrm>
            <a:off x="8300439" y="1977133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602FA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B Title">
            <a:extLst>
              <a:ext uri="{FF2B5EF4-FFF2-40B4-BE49-F238E27FC236}">
                <a16:creationId xmlns:a16="http://schemas.microsoft.com/office/drawing/2014/main" id="{A72DE79B-31E5-0E53-2535-C6A01500836E}"/>
              </a:ext>
            </a:extLst>
          </p:cNvPr>
          <p:cNvSpPr txBox="1"/>
          <p:nvPr/>
        </p:nvSpPr>
        <p:spPr>
          <a:xfrm>
            <a:off x="8634377" y="1895853"/>
            <a:ext cx="1529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Database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DB Description">
            <a:extLst>
              <a:ext uri="{FF2B5EF4-FFF2-40B4-BE49-F238E27FC236}">
                <a16:creationId xmlns:a16="http://schemas.microsoft.com/office/drawing/2014/main" id="{7269BC02-1EF3-59FA-8250-F4C032A599D8}"/>
              </a:ext>
            </a:extLst>
          </p:cNvPr>
          <p:cNvSpPr txBox="1"/>
          <p:nvPr/>
        </p:nvSpPr>
        <p:spPr>
          <a:xfrm>
            <a:off x="8312379" y="2453562"/>
            <a:ext cx="2743200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MongoDB (Shared database access for the group)</a:t>
            </a:r>
          </a:p>
        </p:txBody>
      </p:sp>
      <p:sp>
        <p:nvSpPr>
          <p:cNvPr id="25" name="VC Oval">
            <a:extLst>
              <a:ext uri="{FF2B5EF4-FFF2-40B4-BE49-F238E27FC236}">
                <a16:creationId xmlns:a16="http://schemas.microsoft.com/office/drawing/2014/main" id="{103D62B3-B20E-A2D1-1C08-CA37A32F00FF}"/>
              </a:ext>
            </a:extLst>
          </p:cNvPr>
          <p:cNvSpPr/>
          <p:nvPr/>
        </p:nvSpPr>
        <p:spPr>
          <a:xfrm>
            <a:off x="1199943" y="4662227"/>
            <a:ext cx="293298" cy="293299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VC Title">
            <a:extLst>
              <a:ext uri="{FF2B5EF4-FFF2-40B4-BE49-F238E27FC236}">
                <a16:creationId xmlns:a16="http://schemas.microsoft.com/office/drawing/2014/main" id="{5118B6E3-57D5-783A-1D9C-BAF2B599CD36}"/>
              </a:ext>
            </a:extLst>
          </p:cNvPr>
          <p:cNvSpPr txBox="1"/>
          <p:nvPr/>
        </p:nvSpPr>
        <p:spPr>
          <a:xfrm>
            <a:off x="1533880" y="4580947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Version Control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9647A96-08C2-5C7C-8FC5-30FA7A0BB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39583" flipH="1">
            <a:off x="8305494" y="1987244"/>
            <a:ext cx="283188" cy="28318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96F7031-A30D-CEE9-D895-282103558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636" y="2001954"/>
            <a:ext cx="239083" cy="23908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183F8D0A-1D1F-8190-9160-41FA350C12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680" y="2005652"/>
            <a:ext cx="213824" cy="2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15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928D1-6D45-BACD-D3CF-2D89C12CD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6049BFD2-38EB-1190-6D42-AACE4AFBB0F1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CDF82DDE-C079-6199-0989-C2CBDC05F254}"/>
              </a:ext>
            </a:extLst>
          </p:cNvPr>
          <p:cNvSpPr txBox="1"/>
          <p:nvPr/>
        </p:nvSpPr>
        <p:spPr>
          <a:xfrm>
            <a:off x="772002" y="160802"/>
            <a:ext cx="2950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Tech Stack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CC5BD691-2D05-EB8C-E991-A9ABCF907B95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E Background">
            <a:extLst>
              <a:ext uri="{FF2B5EF4-FFF2-40B4-BE49-F238E27FC236}">
                <a16:creationId xmlns:a16="http://schemas.microsoft.com/office/drawing/2014/main" id="{0FB10728-CF3F-9AB9-7E61-0D1C9DBBE6D0}"/>
              </a:ext>
            </a:extLst>
          </p:cNvPr>
          <p:cNvSpPr/>
          <p:nvPr/>
        </p:nvSpPr>
        <p:spPr>
          <a:xfrm>
            <a:off x="991272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>
              <a:alpha val="25000"/>
            </a:srgbClr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E Oval">
            <a:extLst>
              <a:ext uri="{FF2B5EF4-FFF2-40B4-BE49-F238E27FC236}">
                <a16:creationId xmlns:a16="http://schemas.microsoft.com/office/drawing/2014/main" id="{3C6B4587-1392-B123-FF9B-C08BFAE61E2B}"/>
              </a:ext>
            </a:extLst>
          </p:cNvPr>
          <p:cNvSpPr/>
          <p:nvPr/>
        </p:nvSpPr>
        <p:spPr>
          <a:xfrm>
            <a:off x="1199943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9DA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E Title">
            <a:extLst>
              <a:ext uri="{FF2B5EF4-FFF2-40B4-BE49-F238E27FC236}">
                <a16:creationId xmlns:a16="http://schemas.microsoft.com/office/drawing/2014/main" id="{19510462-A732-5C78-08AC-AE79406BBD6F}"/>
              </a:ext>
            </a:extLst>
          </p:cNvPr>
          <p:cNvSpPr txBox="1"/>
          <p:nvPr/>
        </p:nvSpPr>
        <p:spPr>
          <a:xfrm>
            <a:off x="1533881" y="1884635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Frontend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E Description">
            <a:extLst>
              <a:ext uri="{FF2B5EF4-FFF2-40B4-BE49-F238E27FC236}">
                <a16:creationId xmlns:a16="http://schemas.microsoft.com/office/drawing/2014/main" id="{929BD332-B283-2569-DB89-D7D6F5939882}"/>
              </a:ext>
            </a:extLst>
          </p:cNvPr>
          <p:cNvSpPr txBox="1"/>
          <p:nvPr/>
        </p:nvSpPr>
        <p:spPr>
          <a:xfrm>
            <a:off x="1217561" y="2569792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Tailwind CSS</a:t>
            </a:r>
          </a:p>
        </p:txBody>
      </p:sp>
      <p:sp>
        <p:nvSpPr>
          <p:cNvPr id="13" name="BE Background">
            <a:extLst>
              <a:ext uri="{FF2B5EF4-FFF2-40B4-BE49-F238E27FC236}">
                <a16:creationId xmlns:a16="http://schemas.microsoft.com/office/drawing/2014/main" id="{A09D5870-98B5-ED47-5E1C-7F2E44BCCEE9}"/>
              </a:ext>
            </a:extLst>
          </p:cNvPr>
          <p:cNvSpPr/>
          <p:nvPr/>
        </p:nvSpPr>
        <p:spPr>
          <a:xfrm>
            <a:off x="4542858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chemeClr val="accent2">
              <a:lumMod val="60000"/>
              <a:lumOff val="40000"/>
              <a:alpha val="25000"/>
            </a:schemeClr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E Oval">
            <a:extLst>
              <a:ext uri="{FF2B5EF4-FFF2-40B4-BE49-F238E27FC236}">
                <a16:creationId xmlns:a16="http://schemas.microsoft.com/office/drawing/2014/main" id="{D441292D-AE0D-54B3-B9C5-6380BFB777ED}"/>
              </a:ext>
            </a:extLst>
          </p:cNvPr>
          <p:cNvSpPr/>
          <p:nvPr/>
        </p:nvSpPr>
        <p:spPr>
          <a:xfrm>
            <a:off x="4751529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 Title">
            <a:extLst>
              <a:ext uri="{FF2B5EF4-FFF2-40B4-BE49-F238E27FC236}">
                <a16:creationId xmlns:a16="http://schemas.microsoft.com/office/drawing/2014/main" id="{969D122D-527A-B2F8-21B4-EDD00A54BB45}"/>
              </a:ext>
            </a:extLst>
          </p:cNvPr>
          <p:cNvSpPr txBox="1"/>
          <p:nvPr/>
        </p:nvSpPr>
        <p:spPr>
          <a:xfrm>
            <a:off x="5085467" y="1884635"/>
            <a:ext cx="1402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BE Description">
            <a:extLst>
              <a:ext uri="{FF2B5EF4-FFF2-40B4-BE49-F238E27FC236}">
                <a16:creationId xmlns:a16="http://schemas.microsoft.com/office/drawing/2014/main" id="{FB19F63C-7842-1803-0781-74A451DAB81C}"/>
              </a:ext>
            </a:extLst>
          </p:cNvPr>
          <p:cNvSpPr txBox="1"/>
          <p:nvPr/>
        </p:nvSpPr>
        <p:spPr>
          <a:xfrm>
            <a:off x="4751529" y="2673175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NodeJS (Framework: ExpressJS)</a:t>
            </a:r>
          </a:p>
        </p:txBody>
      </p:sp>
      <p:sp>
        <p:nvSpPr>
          <p:cNvPr id="17" name="DB Background">
            <a:extLst>
              <a:ext uri="{FF2B5EF4-FFF2-40B4-BE49-F238E27FC236}">
                <a16:creationId xmlns:a16="http://schemas.microsoft.com/office/drawing/2014/main" id="{CBC98201-47AD-491C-6109-28C3E7FC9B26}"/>
              </a:ext>
            </a:extLst>
          </p:cNvPr>
          <p:cNvSpPr/>
          <p:nvPr/>
        </p:nvSpPr>
        <p:spPr>
          <a:xfrm>
            <a:off x="8091768" y="1778150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602FA0">
              <a:alpha val="20000"/>
            </a:srgbClr>
          </a:solidFill>
          <a:ln w="15875">
            <a:solidFill>
              <a:srgbClr val="602F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DB Oval">
            <a:extLst>
              <a:ext uri="{FF2B5EF4-FFF2-40B4-BE49-F238E27FC236}">
                <a16:creationId xmlns:a16="http://schemas.microsoft.com/office/drawing/2014/main" id="{9B5A19E4-0F82-0FA1-9B01-9F604AB022CC}"/>
              </a:ext>
            </a:extLst>
          </p:cNvPr>
          <p:cNvSpPr/>
          <p:nvPr/>
        </p:nvSpPr>
        <p:spPr>
          <a:xfrm>
            <a:off x="8300439" y="1977133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602FA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B Title">
            <a:extLst>
              <a:ext uri="{FF2B5EF4-FFF2-40B4-BE49-F238E27FC236}">
                <a16:creationId xmlns:a16="http://schemas.microsoft.com/office/drawing/2014/main" id="{D374C774-455F-32F2-77F6-C85DA6781939}"/>
              </a:ext>
            </a:extLst>
          </p:cNvPr>
          <p:cNvSpPr txBox="1"/>
          <p:nvPr/>
        </p:nvSpPr>
        <p:spPr>
          <a:xfrm>
            <a:off x="8634377" y="1895853"/>
            <a:ext cx="1529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DB Description">
            <a:extLst>
              <a:ext uri="{FF2B5EF4-FFF2-40B4-BE49-F238E27FC236}">
                <a16:creationId xmlns:a16="http://schemas.microsoft.com/office/drawing/2014/main" id="{9F68FE24-D141-A891-8D42-143F10AF27D5}"/>
              </a:ext>
            </a:extLst>
          </p:cNvPr>
          <p:cNvSpPr txBox="1"/>
          <p:nvPr/>
        </p:nvSpPr>
        <p:spPr>
          <a:xfrm>
            <a:off x="8312379" y="2453562"/>
            <a:ext cx="2743200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MongoDB (Shared database access for the group)</a:t>
            </a:r>
          </a:p>
        </p:txBody>
      </p:sp>
      <p:sp>
        <p:nvSpPr>
          <p:cNvPr id="24" name="VC Background">
            <a:extLst>
              <a:ext uri="{FF2B5EF4-FFF2-40B4-BE49-F238E27FC236}">
                <a16:creationId xmlns:a16="http://schemas.microsoft.com/office/drawing/2014/main" id="{4F29E384-0B13-612C-321A-373764FD8067}"/>
              </a:ext>
            </a:extLst>
          </p:cNvPr>
          <p:cNvSpPr/>
          <p:nvPr/>
        </p:nvSpPr>
        <p:spPr>
          <a:xfrm>
            <a:off x="991272" y="4463244"/>
            <a:ext cx="10209456" cy="1396054"/>
          </a:xfrm>
          <a:prstGeom prst="roundRect">
            <a:avLst>
              <a:gd name="adj" fmla="val 14522"/>
            </a:avLst>
          </a:prstGeom>
          <a:solidFill>
            <a:schemeClr val="tx1">
              <a:lumMod val="85000"/>
              <a:lumOff val="15000"/>
            </a:scheme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VC Oval">
            <a:extLst>
              <a:ext uri="{FF2B5EF4-FFF2-40B4-BE49-F238E27FC236}">
                <a16:creationId xmlns:a16="http://schemas.microsoft.com/office/drawing/2014/main" id="{51C91CC7-9DE6-E4BC-39D0-3ED568578697}"/>
              </a:ext>
            </a:extLst>
          </p:cNvPr>
          <p:cNvSpPr/>
          <p:nvPr/>
        </p:nvSpPr>
        <p:spPr>
          <a:xfrm>
            <a:off x="1199943" y="4662227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VC Title">
            <a:extLst>
              <a:ext uri="{FF2B5EF4-FFF2-40B4-BE49-F238E27FC236}">
                <a16:creationId xmlns:a16="http://schemas.microsoft.com/office/drawing/2014/main" id="{29C0B8DA-2B8A-7C5E-E8A4-9938B56F39F1}"/>
              </a:ext>
            </a:extLst>
          </p:cNvPr>
          <p:cNvSpPr txBox="1"/>
          <p:nvPr/>
        </p:nvSpPr>
        <p:spPr>
          <a:xfrm>
            <a:off x="1533880" y="4580947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Version Control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VC Description">
            <a:extLst>
              <a:ext uri="{FF2B5EF4-FFF2-40B4-BE49-F238E27FC236}">
                <a16:creationId xmlns:a16="http://schemas.microsoft.com/office/drawing/2014/main" id="{2EBFD8CD-DD1A-0052-6E4A-F89E8D8F1A64}"/>
              </a:ext>
            </a:extLst>
          </p:cNvPr>
          <p:cNvSpPr txBox="1"/>
          <p:nvPr/>
        </p:nvSpPr>
        <p:spPr>
          <a:xfrm>
            <a:off x="1217561" y="5139131"/>
            <a:ext cx="2743200" cy="509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GitHub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9E7C407-33B4-D9EE-17F9-47457FC1D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120" y="4723929"/>
            <a:ext cx="170367" cy="1703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388A3E68-E43A-3655-E5FF-2C499F47D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636" y="2001954"/>
            <a:ext cx="239083" cy="23908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832261E-7DA8-1AD8-0CDE-411EF533D8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39583" flipH="1">
            <a:off x="8305494" y="1987244"/>
            <a:ext cx="283188" cy="28318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DF2FA08-AC86-B9B5-E281-2A8282AEC8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9680" y="2005652"/>
            <a:ext cx="213824" cy="2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43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A291-1918-05EB-F765-7A1D0F95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A73E6BDC-3847-277A-7754-F263486E879D}"/>
              </a:ext>
            </a:extLst>
          </p:cNvPr>
          <p:cNvSpPr/>
          <p:nvPr/>
        </p:nvSpPr>
        <p:spPr>
          <a:xfrm>
            <a:off x="0" y="0"/>
            <a:ext cx="12192000" cy="1091045"/>
          </a:xfrm>
          <a:prstGeom prst="rect">
            <a:avLst/>
          </a:prstGeom>
          <a:solidFill>
            <a:srgbClr val="2A82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85F585D3-A06A-1A15-05E0-138E657DCF42}"/>
              </a:ext>
            </a:extLst>
          </p:cNvPr>
          <p:cNvSpPr txBox="1"/>
          <p:nvPr/>
        </p:nvSpPr>
        <p:spPr>
          <a:xfrm>
            <a:off x="772002" y="160802"/>
            <a:ext cx="53094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Timeline / Roadmap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EEA94E5B-6E4E-E40A-2027-D0BD7FC810A2}"/>
              </a:ext>
            </a:extLst>
          </p:cNvPr>
          <p:cNvCxnSpPr>
            <a:cxnSpLocks/>
          </p:cNvCxnSpPr>
          <p:nvPr/>
        </p:nvCxnSpPr>
        <p:spPr>
          <a:xfrm>
            <a:off x="677711" y="30824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E Background">
            <a:extLst>
              <a:ext uri="{FF2B5EF4-FFF2-40B4-BE49-F238E27FC236}">
                <a16:creationId xmlns:a16="http://schemas.microsoft.com/office/drawing/2014/main" id="{5832CEE5-A7DA-8189-FF86-8668861C2953}"/>
              </a:ext>
            </a:extLst>
          </p:cNvPr>
          <p:cNvSpPr/>
          <p:nvPr/>
        </p:nvSpPr>
        <p:spPr>
          <a:xfrm>
            <a:off x="-3555328" y="1766932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389DA2">
              <a:alpha val="25000"/>
            </a:srgbClr>
          </a:solidFill>
          <a:ln w="15875">
            <a:solidFill>
              <a:srgbClr val="389DA2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FE Oval">
            <a:extLst>
              <a:ext uri="{FF2B5EF4-FFF2-40B4-BE49-F238E27FC236}">
                <a16:creationId xmlns:a16="http://schemas.microsoft.com/office/drawing/2014/main" id="{5040A710-B2AF-CAE7-F2DC-A757EF959B78}"/>
              </a:ext>
            </a:extLst>
          </p:cNvPr>
          <p:cNvSpPr/>
          <p:nvPr/>
        </p:nvSpPr>
        <p:spPr>
          <a:xfrm>
            <a:off x="-3346657" y="1965915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9DA2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E Title">
            <a:extLst>
              <a:ext uri="{FF2B5EF4-FFF2-40B4-BE49-F238E27FC236}">
                <a16:creationId xmlns:a16="http://schemas.microsoft.com/office/drawing/2014/main" id="{ED97924C-3A37-1ADD-273B-13D20A2435FC}"/>
              </a:ext>
            </a:extLst>
          </p:cNvPr>
          <p:cNvSpPr txBox="1"/>
          <p:nvPr/>
        </p:nvSpPr>
        <p:spPr>
          <a:xfrm>
            <a:off x="-3012719" y="1884635"/>
            <a:ext cx="1450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Frontend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E Description">
            <a:extLst>
              <a:ext uri="{FF2B5EF4-FFF2-40B4-BE49-F238E27FC236}">
                <a16:creationId xmlns:a16="http://schemas.microsoft.com/office/drawing/2014/main" id="{62066DBD-5B3C-E40E-3A17-626D1BF3D3C5}"/>
              </a:ext>
            </a:extLst>
          </p:cNvPr>
          <p:cNvSpPr txBox="1"/>
          <p:nvPr/>
        </p:nvSpPr>
        <p:spPr>
          <a:xfrm>
            <a:off x="-3329039" y="2569792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NextJS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Tailwind CSS</a:t>
            </a:r>
          </a:p>
        </p:txBody>
      </p:sp>
      <p:sp>
        <p:nvSpPr>
          <p:cNvPr id="13" name="BE Background">
            <a:extLst>
              <a:ext uri="{FF2B5EF4-FFF2-40B4-BE49-F238E27FC236}">
                <a16:creationId xmlns:a16="http://schemas.microsoft.com/office/drawing/2014/main" id="{2C2F79CD-C8C6-5891-2161-37AEC6C35688}"/>
              </a:ext>
            </a:extLst>
          </p:cNvPr>
          <p:cNvSpPr/>
          <p:nvPr/>
        </p:nvSpPr>
        <p:spPr>
          <a:xfrm>
            <a:off x="4542858" y="-2617499"/>
            <a:ext cx="3108960" cy="2286000"/>
          </a:xfrm>
          <a:prstGeom prst="roundRect">
            <a:avLst>
              <a:gd name="adj" fmla="val 8568"/>
            </a:avLst>
          </a:prstGeom>
          <a:solidFill>
            <a:schemeClr val="accent2">
              <a:lumMod val="60000"/>
              <a:lumOff val="40000"/>
              <a:alpha val="25000"/>
            </a:schemeClr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E Oval">
            <a:extLst>
              <a:ext uri="{FF2B5EF4-FFF2-40B4-BE49-F238E27FC236}">
                <a16:creationId xmlns:a16="http://schemas.microsoft.com/office/drawing/2014/main" id="{517E2AD3-DA0C-E829-53CD-5FCA48E569EF}"/>
              </a:ext>
            </a:extLst>
          </p:cNvPr>
          <p:cNvSpPr/>
          <p:nvPr/>
        </p:nvSpPr>
        <p:spPr>
          <a:xfrm>
            <a:off x="4751529" y="-2418516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 Title">
            <a:extLst>
              <a:ext uri="{FF2B5EF4-FFF2-40B4-BE49-F238E27FC236}">
                <a16:creationId xmlns:a16="http://schemas.microsoft.com/office/drawing/2014/main" id="{85AC1016-8F5B-F3A9-E61A-34BA22FD5069}"/>
              </a:ext>
            </a:extLst>
          </p:cNvPr>
          <p:cNvSpPr txBox="1"/>
          <p:nvPr/>
        </p:nvSpPr>
        <p:spPr>
          <a:xfrm>
            <a:off x="5085467" y="-2499796"/>
            <a:ext cx="1402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Backend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BE Description">
            <a:extLst>
              <a:ext uri="{FF2B5EF4-FFF2-40B4-BE49-F238E27FC236}">
                <a16:creationId xmlns:a16="http://schemas.microsoft.com/office/drawing/2014/main" id="{CA690117-30CA-5859-3667-A0AF6BEF21F4}"/>
              </a:ext>
            </a:extLst>
          </p:cNvPr>
          <p:cNvSpPr txBox="1"/>
          <p:nvPr/>
        </p:nvSpPr>
        <p:spPr>
          <a:xfrm>
            <a:off x="4751529" y="-1711256"/>
            <a:ext cx="274320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NodeJS (Framework: ExpressJS)</a:t>
            </a:r>
          </a:p>
        </p:txBody>
      </p:sp>
      <p:sp>
        <p:nvSpPr>
          <p:cNvPr id="17" name="DB Background">
            <a:extLst>
              <a:ext uri="{FF2B5EF4-FFF2-40B4-BE49-F238E27FC236}">
                <a16:creationId xmlns:a16="http://schemas.microsoft.com/office/drawing/2014/main" id="{16F20D63-1378-19DF-6CEC-C98B3950BE1B}"/>
              </a:ext>
            </a:extLst>
          </p:cNvPr>
          <p:cNvSpPr/>
          <p:nvPr/>
        </p:nvSpPr>
        <p:spPr>
          <a:xfrm>
            <a:off x="12993968" y="1778150"/>
            <a:ext cx="3108960" cy="2286000"/>
          </a:xfrm>
          <a:prstGeom prst="roundRect">
            <a:avLst>
              <a:gd name="adj" fmla="val 8568"/>
            </a:avLst>
          </a:prstGeom>
          <a:solidFill>
            <a:srgbClr val="602FA0">
              <a:alpha val="20000"/>
            </a:srgbClr>
          </a:solidFill>
          <a:ln w="15875">
            <a:solidFill>
              <a:srgbClr val="602FA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DB Oval">
            <a:extLst>
              <a:ext uri="{FF2B5EF4-FFF2-40B4-BE49-F238E27FC236}">
                <a16:creationId xmlns:a16="http://schemas.microsoft.com/office/drawing/2014/main" id="{A6EB8A71-4F5D-F53A-D86C-C9BF485C459B}"/>
              </a:ext>
            </a:extLst>
          </p:cNvPr>
          <p:cNvSpPr/>
          <p:nvPr/>
        </p:nvSpPr>
        <p:spPr>
          <a:xfrm>
            <a:off x="13202639" y="1977133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rgbClr val="602FA0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B Title">
            <a:extLst>
              <a:ext uri="{FF2B5EF4-FFF2-40B4-BE49-F238E27FC236}">
                <a16:creationId xmlns:a16="http://schemas.microsoft.com/office/drawing/2014/main" id="{A85A34B8-F056-7711-32F9-76B5B9742E29}"/>
              </a:ext>
            </a:extLst>
          </p:cNvPr>
          <p:cNvSpPr txBox="1"/>
          <p:nvPr/>
        </p:nvSpPr>
        <p:spPr>
          <a:xfrm>
            <a:off x="13536577" y="1895853"/>
            <a:ext cx="1529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DB Description">
            <a:extLst>
              <a:ext uri="{FF2B5EF4-FFF2-40B4-BE49-F238E27FC236}">
                <a16:creationId xmlns:a16="http://schemas.microsoft.com/office/drawing/2014/main" id="{29871EB0-E008-1496-6B95-EEE694ADFF0B}"/>
              </a:ext>
            </a:extLst>
          </p:cNvPr>
          <p:cNvSpPr txBox="1"/>
          <p:nvPr/>
        </p:nvSpPr>
        <p:spPr>
          <a:xfrm>
            <a:off x="13214579" y="2453562"/>
            <a:ext cx="2743200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MongoDB (Shared database access for the group)</a:t>
            </a:r>
          </a:p>
        </p:txBody>
      </p:sp>
      <p:sp>
        <p:nvSpPr>
          <p:cNvPr id="24" name="VC Background">
            <a:extLst>
              <a:ext uri="{FF2B5EF4-FFF2-40B4-BE49-F238E27FC236}">
                <a16:creationId xmlns:a16="http://schemas.microsoft.com/office/drawing/2014/main" id="{DBA92977-1C18-1F28-EE26-36EF0B09ADDB}"/>
              </a:ext>
            </a:extLst>
          </p:cNvPr>
          <p:cNvSpPr/>
          <p:nvPr/>
        </p:nvSpPr>
        <p:spPr>
          <a:xfrm>
            <a:off x="991272" y="7269944"/>
            <a:ext cx="10209456" cy="1396054"/>
          </a:xfrm>
          <a:prstGeom prst="roundRect">
            <a:avLst>
              <a:gd name="adj" fmla="val 14522"/>
            </a:avLst>
          </a:prstGeom>
          <a:solidFill>
            <a:schemeClr val="tx1">
              <a:lumMod val="85000"/>
              <a:lumOff val="15000"/>
            </a:schemeClr>
          </a:solidFill>
          <a:ln w="158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4320" rtlCol="0" anchor="ctr"/>
          <a:lstStyle/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VC Oval">
            <a:extLst>
              <a:ext uri="{FF2B5EF4-FFF2-40B4-BE49-F238E27FC236}">
                <a16:creationId xmlns:a16="http://schemas.microsoft.com/office/drawing/2014/main" id="{B6F71882-CE0D-20E1-081A-6EC21CDE11DB}"/>
              </a:ext>
            </a:extLst>
          </p:cNvPr>
          <p:cNvSpPr/>
          <p:nvPr/>
        </p:nvSpPr>
        <p:spPr>
          <a:xfrm>
            <a:off x="1199943" y="7468927"/>
            <a:ext cx="293298" cy="2932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VC Title">
            <a:extLst>
              <a:ext uri="{FF2B5EF4-FFF2-40B4-BE49-F238E27FC236}">
                <a16:creationId xmlns:a16="http://schemas.microsoft.com/office/drawing/2014/main" id="{BA7ACC9F-484C-CA5A-1AA0-582C33AF6844}"/>
              </a:ext>
            </a:extLst>
          </p:cNvPr>
          <p:cNvSpPr txBox="1"/>
          <p:nvPr/>
        </p:nvSpPr>
        <p:spPr>
          <a:xfrm>
            <a:off x="1533880" y="7387647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Version Control</a:t>
            </a:r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VC Description">
            <a:extLst>
              <a:ext uri="{FF2B5EF4-FFF2-40B4-BE49-F238E27FC236}">
                <a16:creationId xmlns:a16="http://schemas.microsoft.com/office/drawing/2014/main" id="{4F6838B0-C27E-A4B1-1170-29FF14F593D5}"/>
              </a:ext>
            </a:extLst>
          </p:cNvPr>
          <p:cNvSpPr txBox="1"/>
          <p:nvPr/>
        </p:nvSpPr>
        <p:spPr>
          <a:xfrm>
            <a:off x="1217561" y="7945831"/>
            <a:ext cx="2743200" cy="509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GitHub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2BBC554-28D0-02ED-E920-45C76A29B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120" y="7530629"/>
            <a:ext cx="170367" cy="1703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A6BCFD9-29C1-A129-894C-FEC47BCDC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636" y="-2382477"/>
            <a:ext cx="239083" cy="23908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ACB5853-7827-5F33-05D6-F09860AE7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39583" flipH="1">
            <a:off x="13207694" y="1987244"/>
            <a:ext cx="283188" cy="28318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FD7B0B3-96EA-C4B9-8E4C-FD2C6005FE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306920" y="2005652"/>
            <a:ext cx="213824" cy="2138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AEC58C-13B1-45B4-87B7-B2FE48E551A5}"/>
              </a:ext>
            </a:extLst>
          </p:cNvPr>
          <p:cNvSpPr txBox="1"/>
          <p:nvPr/>
        </p:nvSpPr>
        <p:spPr>
          <a:xfrm>
            <a:off x="772002" y="1458977"/>
            <a:ext cx="9623660" cy="45633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Weeks 1–3: Planning and architecture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Weeks 4–7: Core feature development (MVP)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Weeks 8–10: UI/UX improvements, secondary features, error handling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Weeks 11–12: Documentation, polish, usability 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Week 13: Final submission &amp; presentation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E2B736-4F5C-D33C-57AB-B5BD74772554}"/>
              </a:ext>
            </a:extLst>
          </p:cNvPr>
          <p:cNvCxnSpPr>
            <a:cxnSpLocks/>
          </p:cNvCxnSpPr>
          <p:nvPr/>
        </p:nvCxnSpPr>
        <p:spPr>
          <a:xfrm>
            <a:off x="822038" y="2064939"/>
            <a:ext cx="0" cy="3678636"/>
          </a:xfrm>
          <a:prstGeom prst="line">
            <a:avLst/>
          </a:prstGeom>
          <a:ln>
            <a:solidFill>
              <a:srgbClr val="2A8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E5AA48E-47F2-7644-8658-79E76A28368D}"/>
              </a:ext>
            </a:extLst>
          </p:cNvPr>
          <p:cNvSpPr/>
          <p:nvPr/>
        </p:nvSpPr>
        <p:spPr>
          <a:xfrm>
            <a:off x="752775" y="2921150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CDBD7F-C828-3395-3B54-75D7EB572062}"/>
              </a:ext>
            </a:extLst>
          </p:cNvPr>
          <p:cNvSpPr>
            <a:spLocks/>
          </p:cNvSpPr>
          <p:nvPr/>
        </p:nvSpPr>
        <p:spPr>
          <a:xfrm>
            <a:off x="753458" y="2002496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10642D-F858-FB83-D37F-8B6AF9E63E42}"/>
              </a:ext>
            </a:extLst>
          </p:cNvPr>
          <p:cNvSpPr/>
          <p:nvPr/>
        </p:nvSpPr>
        <p:spPr>
          <a:xfrm>
            <a:off x="730598" y="1979636"/>
            <a:ext cx="182880" cy="182880"/>
          </a:xfrm>
          <a:prstGeom prst="ellipse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206320-FF88-9B77-9A05-7C98B7830228}"/>
              </a:ext>
            </a:extLst>
          </p:cNvPr>
          <p:cNvSpPr>
            <a:spLocks/>
          </p:cNvSpPr>
          <p:nvPr/>
        </p:nvSpPr>
        <p:spPr>
          <a:xfrm>
            <a:off x="753458" y="2926719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26EC546-FF48-5E14-D3FF-5557FA24A8BA}"/>
              </a:ext>
            </a:extLst>
          </p:cNvPr>
          <p:cNvSpPr/>
          <p:nvPr/>
        </p:nvSpPr>
        <p:spPr>
          <a:xfrm>
            <a:off x="730598" y="2903859"/>
            <a:ext cx="182880" cy="182880"/>
          </a:xfrm>
          <a:prstGeom prst="ellipse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DC4CD29-39C1-8B01-5A3D-5B27B8761B95}"/>
              </a:ext>
            </a:extLst>
          </p:cNvPr>
          <p:cNvSpPr>
            <a:spLocks/>
          </p:cNvSpPr>
          <p:nvPr/>
        </p:nvSpPr>
        <p:spPr>
          <a:xfrm>
            <a:off x="753458" y="3844805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B6F5057-1EFB-9475-AB2F-A46A467EB118}"/>
              </a:ext>
            </a:extLst>
          </p:cNvPr>
          <p:cNvSpPr/>
          <p:nvPr/>
        </p:nvSpPr>
        <p:spPr>
          <a:xfrm>
            <a:off x="730598" y="3821945"/>
            <a:ext cx="182880" cy="182880"/>
          </a:xfrm>
          <a:prstGeom prst="ellipse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F5EC795-EE90-DFD5-EDA1-8640B8308725}"/>
              </a:ext>
            </a:extLst>
          </p:cNvPr>
          <p:cNvSpPr>
            <a:spLocks/>
          </p:cNvSpPr>
          <p:nvPr/>
        </p:nvSpPr>
        <p:spPr>
          <a:xfrm>
            <a:off x="753458" y="4762891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A41EBB8-8A19-DE8C-5D3F-E95C3DD95CF1}"/>
              </a:ext>
            </a:extLst>
          </p:cNvPr>
          <p:cNvSpPr/>
          <p:nvPr/>
        </p:nvSpPr>
        <p:spPr>
          <a:xfrm>
            <a:off x="730598" y="4740031"/>
            <a:ext cx="182880" cy="182880"/>
          </a:xfrm>
          <a:prstGeom prst="ellipse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603C20F-42D2-243E-6A83-00517A040BFC}"/>
              </a:ext>
            </a:extLst>
          </p:cNvPr>
          <p:cNvSpPr>
            <a:spLocks/>
          </p:cNvSpPr>
          <p:nvPr/>
        </p:nvSpPr>
        <p:spPr>
          <a:xfrm>
            <a:off x="753458" y="5680977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0CC9764-D171-18A7-E6F1-6D18909E01B4}"/>
              </a:ext>
            </a:extLst>
          </p:cNvPr>
          <p:cNvSpPr/>
          <p:nvPr/>
        </p:nvSpPr>
        <p:spPr>
          <a:xfrm>
            <a:off x="730598" y="5658117"/>
            <a:ext cx="182880" cy="182880"/>
          </a:xfrm>
          <a:prstGeom prst="ellipse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00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98287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98287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98287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98287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98287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  <p:bldP spid="44" grpId="0" animBg="1"/>
      <p:bldP spid="46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286D-A415-4F6E-A957-906179CF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B18D59C7-B459-BF82-2C30-6E5EA3FE8650}"/>
              </a:ext>
            </a:extLst>
          </p:cNvPr>
          <p:cNvSpPr/>
          <p:nvPr/>
        </p:nvSpPr>
        <p:spPr>
          <a:xfrm>
            <a:off x="0" y="0"/>
            <a:ext cx="12192000" cy="12863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35672215-434C-F0BE-F11A-D7F0B5343646}"/>
              </a:ext>
            </a:extLst>
          </p:cNvPr>
          <p:cNvSpPr txBox="1"/>
          <p:nvPr/>
        </p:nvSpPr>
        <p:spPr>
          <a:xfrm>
            <a:off x="772002" y="258450"/>
            <a:ext cx="50907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Expected Outcome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D2F064FA-3ACC-62C8-5FAB-50932F5C4AB0}"/>
              </a:ext>
            </a:extLst>
          </p:cNvPr>
          <p:cNvCxnSpPr>
            <a:cxnSpLocks/>
          </p:cNvCxnSpPr>
          <p:nvPr/>
        </p:nvCxnSpPr>
        <p:spPr>
          <a:xfrm>
            <a:off x="677711" y="405889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E4ABCAA-59BB-CCC1-7F0F-9D3249AF3ED8}"/>
              </a:ext>
            </a:extLst>
          </p:cNvPr>
          <p:cNvSpPr txBox="1"/>
          <p:nvPr/>
        </p:nvSpPr>
        <p:spPr>
          <a:xfrm>
            <a:off x="772002" y="1458977"/>
            <a:ext cx="10275121" cy="45633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A functional student-only trading platform with core features implemented.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Secure authentication using MUN ID and Email.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Transaction system with purchase history.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Working prototype ready for demonstration and further enhancement.</a:t>
            </a:r>
          </a:p>
          <a:p>
            <a:pPr marL="285750" indent="-285750">
              <a:lnSpc>
                <a:spcPct val="250000"/>
              </a:lnSpc>
              <a:buSzPct val="105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Documentation and user manual.</a:t>
            </a:r>
          </a:p>
        </p:txBody>
      </p:sp>
      <p:cxnSp>
        <p:nvCxnSpPr>
          <p:cNvPr id="23" name="Straight Connector 22" hidden="1">
            <a:extLst>
              <a:ext uri="{FF2B5EF4-FFF2-40B4-BE49-F238E27FC236}">
                <a16:creationId xmlns:a16="http://schemas.microsoft.com/office/drawing/2014/main" id="{8A3EC237-700C-0892-8E24-B023EC7BC62C}"/>
              </a:ext>
            </a:extLst>
          </p:cNvPr>
          <p:cNvCxnSpPr>
            <a:cxnSpLocks/>
          </p:cNvCxnSpPr>
          <p:nvPr/>
        </p:nvCxnSpPr>
        <p:spPr>
          <a:xfrm>
            <a:off x="822038" y="2064939"/>
            <a:ext cx="0" cy="3678636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73B2F9A2-26E4-23A0-E16B-A739195502A5}"/>
              </a:ext>
            </a:extLst>
          </p:cNvPr>
          <p:cNvSpPr/>
          <p:nvPr/>
        </p:nvSpPr>
        <p:spPr>
          <a:xfrm>
            <a:off x="752775" y="2930675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611EFE-2EB5-B87D-AB48-EA6B22E7DDD9}"/>
              </a:ext>
            </a:extLst>
          </p:cNvPr>
          <p:cNvSpPr>
            <a:spLocks/>
          </p:cNvSpPr>
          <p:nvPr/>
        </p:nvSpPr>
        <p:spPr>
          <a:xfrm>
            <a:off x="753458" y="2012021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5610A3E-078A-476F-FAB7-AAE7C66D4104}"/>
              </a:ext>
            </a:extLst>
          </p:cNvPr>
          <p:cNvSpPr/>
          <p:nvPr/>
        </p:nvSpPr>
        <p:spPr>
          <a:xfrm>
            <a:off x="730598" y="1989161"/>
            <a:ext cx="182880" cy="1828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1965A3-F572-B9BD-A598-87082211CFFD}"/>
              </a:ext>
            </a:extLst>
          </p:cNvPr>
          <p:cNvSpPr>
            <a:spLocks/>
          </p:cNvSpPr>
          <p:nvPr/>
        </p:nvSpPr>
        <p:spPr>
          <a:xfrm>
            <a:off x="753458" y="2936244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12F7457-AF2C-CD78-059B-DFA6151E2257}"/>
              </a:ext>
            </a:extLst>
          </p:cNvPr>
          <p:cNvSpPr/>
          <p:nvPr/>
        </p:nvSpPr>
        <p:spPr>
          <a:xfrm>
            <a:off x="730598" y="2913384"/>
            <a:ext cx="182880" cy="1828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AE8CA4-D972-B7A5-7052-56384413484F}"/>
              </a:ext>
            </a:extLst>
          </p:cNvPr>
          <p:cNvSpPr>
            <a:spLocks/>
          </p:cNvSpPr>
          <p:nvPr/>
        </p:nvSpPr>
        <p:spPr>
          <a:xfrm>
            <a:off x="753458" y="3844805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95BA721-8BA4-55A4-BC2C-730C144C8AD8}"/>
              </a:ext>
            </a:extLst>
          </p:cNvPr>
          <p:cNvSpPr/>
          <p:nvPr/>
        </p:nvSpPr>
        <p:spPr>
          <a:xfrm>
            <a:off x="730598" y="3821945"/>
            <a:ext cx="182880" cy="1828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900AECE-7621-E856-910B-65993850F930}"/>
              </a:ext>
            </a:extLst>
          </p:cNvPr>
          <p:cNvSpPr>
            <a:spLocks/>
          </p:cNvSpPr>
          <p:nvPr/>
        </p:nvSpPr>
        <p:spPr>
          <a:xfrm>
            <a:off x="753458" y="4762891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97C1C65-E523-3C54-F04C-40365361E112}"/>
              </a:ext>
            </a:extLst>
          </p:cNvPr>
          <p:cNvSpPr/>
          <p:nvPr/>
        </p:nvSpPr>
        <p:spPr>
          <a:xfrm>
            <a:off x="730598" y="4740031"/>
            <a:ext cx="182880" cy="1828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07B34AD-9DA6-F005-242A-77D9E58B660D}"/>
              </a:ext>
            </a:extLst>
          </p:cNvPr>
          <p:cNvSpPr>
            <a:spLocks/>
          </p:cNvSpPr>
          <p:nvPr/>
        </p:nvSpPr>
        <p:spPr>
          <a:xfrm>
            <a:off x="753458" y="5680977"/>
            <a:ext cx="137160" cy="137160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C356F3C-4C48-1114-C833-87AC65070928}"/>
              </a:ext>
            </a:extLst>
          </p:cNvPr>
          <p:cNvSpPr/>
          <p:nvPr/>
        </p:nvSpPr>
        <p:spPr>
          <a:xfrm>
            <a:off x="730598" y="5658117"/>
            <a:ext cx="182880" cy="1828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83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5F9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5F9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5F9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5F9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15F9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  <p:bldP spid="44" grpId="0" animBg="1"/>
      <p:bldP spid="46" grpId="0" animBg="1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856D7-1A7B-FC96-C134-9B2A8C8F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9AF1ED31-3712-3D48-FF71-41E6BFF778ED}"/>
              </a:ext>
            </a:extLst>
          </p:cNvPr>
          <p:cNvSpPr/>
          <p:nvPr/>
        </p:nvSpPr>
        <p:spPr>
          <a:xfrm>
            <a:off x="0" y="0"/>
            <a:ext cx="12192000" cy="17240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EB30E243-9061-7E72-3531-25F327EF975E}"/>
              </a:ext>
            </a:extLst>
          </p:cNvPr>
          <p:cNvSpPr txBox="1"/>
          <p:nvPr/>
        </p:nvSpPr>
        <p:spPr>
          <a:xfrm>
            <a:off x="772002" y="477292"/>
            <a:ext cx="31325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Conclusion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13C2874B-B257-F4AB-07CA-E2EF3DF11734}"/>
              </a:ext>
            </a:extLst>
          </p:cNvPr>
          <p:cNvCxnSpPr>
            <a:cxnSpLocks/>
          </p:cNvCxnSpPr>
          <p:nvPr/>
        </p:nvCxnSpPr>
        <p:spPr>
          <a:xfrm>
            <a:off x="677711" y="62473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 hidden="1">
            <a:extLst>
              <a:ext uri="{FF2B5EF4-FFF2-40B4-BE49-F238E27FC236}">
                <a16:creationId xmlns:a16="http://schemas.microsoft.com/office/drawing/2014/main" id="{6381F8BF-01B6-FD7A-312A-1E95A3AA813E}"/>
              </a:ext>
            </a:extLst>
          </p:cNvPr>
          <p:cNvCxnSpPr>
            <a:cxnSpLocks/>
          </p:cNvCxnSpPr>
          <p:nvPr/>
        </p:nvCxnSpPr>
        <p:spPr>
          <a:xfrm>
            <a:off x="822038" y="2064939"/>
            <a:ext cx="0" cy="3678636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078F7C-0A82-AE9B-E7E0-2207A68C83D3}"/>
              </a:ext>
            </a:extLst>
          </p:cNvPr>
          <p:cNvSpPr txBox="1"/>
          <p:nvPr/>
        </p:nvSpPr>
        <p:spPr>
          <a:xfrm>
            <a:off x="2019300" y="256291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TradeHub offers a safe, affordable, and exclusive platform for students to buy, sell, and trade.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2D35F-0B45-5DD6-F5AB-846A65ADFC40}"/>
              </a:ext>
            </a:extLst>
          </p:cNvPr>
          <p:cNvSpPr/>
          <p:nvPr/>
        </p:nvSpPr>
        <p:spPr>
          <a:xfrm>
            <a:off x="1647825" y="2726353"/>
            <a:ext cx="219075" cy="381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F4E29-FFE6-0365-DC65-41838964739A}"/>
              </a:ext>
            </a:extLst>
          </p:cNvPr>
          <p:cNvSpPr txBox="1"/>
          <p:nvPr/>
        </p:nvSpPr>
        <p:spPr>
          <a:xfrm>
            <a:off x="2019300" y="371912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Builds trust by keeping the ecosystem student-only.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9400B8-A0B1-19F5-0899-9E033DA2690D}"/>
              </a:ext>
            </a:extLst>
          </p:cNvPr>
          <p:cNvSpPr/>
          <p:nvPr/>
        </p:nvSpPr>
        <p:spPr>
          <a:xfrm>
            <a:off x="1647825" y="3728681"/>
            <a:ext cx="219075" cy="381000"/>
          </a:xfrm>
          <a:prstGeom prst="rect">
            <a:avLst/>
          </a:prstGeom>
          <a:solidFill>
            <a:srgbClr val="781F4A"/>
          </a:solidFill>
          <a:ln>
            <a:solidFill>
              <a:srgbClr val="781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F5DF3-60C4-8099-59CC-A18F8FCA4605}"/>
              </a:ext>
            </a:extLst>
          </p:cNvPr>
          <p:cNvSpPr txBox="1"/>
          <p:nvPr/>
        </p:nvSpPr>
        <p:spPr>
          <a:xfrm>
            <a:off x="2019300" y="456756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Scalable foundation for future expansion (reviews, delivery, auctions).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805235-E6E9-BF48-D600-CECB9FF9A99F}"/>
              </a:ext>
            </a:extLst>
          </p:cNvPr>
          <p:cNvSpPr/>
          <p:nvPr/>
        </p:nvSpPr>
        <p:spPr>
          <a:xfrm>
            <a:off x="1647825" y="4731009"/>
            <a:ext cx="219075" cy="381000"/>
          </a:xfrm>
          <a:prstGeom prst="rect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96530F-4DDE-2383-61D9-E6E04B752F6B}"/>
              </a:ext>
            </a:extLst>
          </p:cNvPr>
          <p:cNvSpPr txBox="1"/>
          <p:nvPr/>
        </p:nvSpPr>
        <p:spPr>
          <a:xfrm>
            <a:off x="5436200" y="-1217742"/>
            <a:ext cx="109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FFC000"/>
                </a:solidFill>
              </a:rPr>
              <a:t>!</a:t>
            </a:r>
            <a:endParaRPr lang="en-US" sz="7200" dirty="0">
              <a:solidFill>
                <a:srgbClr val="FFC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131C1-E6B2-DDC5-FA8B-E51DCB0E701B}"/>
              </a:ext>
            </a:extLst>
          </p:cNvPr>
          <p:cNvSpPr txBox="1"/>
          <p:nvPr/>
        </p:nvSpPr>
        <p:spPr>
          <a:xfrm>
            <a:off x="-4418916" y="2295123"/>
            <a:ext cx="40977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>
                    <a:lumMod val="95000"/>
                  </a:schemeClr>
                </a:solidFill>
              </a:rPr>
              <a:t>Thank You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18738BF-359C-B79C-D8DB-02150C2E7D73}"/>
              </a:ext>
            </a:extLst>
          </p:cNvPr>
          <p:cNvSpPr/>
          <p:nvPr/>
        </p:nvSpPr>
        <p:spPr>
          <a:xfrm rot="20070000">
            <a:off x="13420876" y="-1476050"/>
            <a:ext cx="2743200" cy="2743200"/>
          </a:xfrm>
          <a:prstGeom prst="roundRect">
            <a:avLst/>
          </a:prstGeom>
          <a:noFill/>
          <a:ln>
            <a:solidFill>
              <a:srgbClr val="DC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550781-AB30-EFE0-A264-914A40372F5F}"/>
              </a:ext>
            </a:extLst>
          </p:cNvPr>
          <p:cNvSpPr/>
          <p:nvPr/>
        </p:nvSpPr>
        <p:spPr>
          <a:xfrm rot="1218959">
            <a:off x="-1979131" y="7481545"/>
            <a:ext cx="2743200" cy="2743200"/>
          </a:xfrm>
          <a:prstGeom prst="roundRect">
            <a:avLst/>
          </a:prstGeom>
          <a:noFill/>
          <a:ln>
            <a:solidFill>
              <a:srgbClr val="DC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97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  <p:bldP spid="10" grpId="0" animBg="1"/>
      <p:bldP spid="11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A5B46-8259-977C-21D8-3FAA4F8D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lution Rectangle">
            <a:extLst>
              <a:ext uri="{FF2B5EF4-FFF2-40B4-BE49-F238E27FC236}">
                <a16:creationId xmlns:a16="http://schemas.microsoft.com/office/drawing/2014/main" id="{62BFC68B-BE86-7617-25E4-152FBBEDA59A}"/>
              </a:ext>
            </a:extLst>
          </p:cNvPr>
          <p:cNvSpPr/>
          <p:nvPr/>
        </p:nvSpPr>
        <p:spPr>
          <a:xfrm>
            <a:off x="0" y="0"/>
            <a:ext cx="12192000" cy="5977467"/>
          </a:xfrm>
          <a:prstGeom prst="rect">
            <a:avLst/>
          </a:prstGeom>
          <a:solidFill>
            <a:srgbClr val="781F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roposed Solution">
            <a:extLst>
              <a:ext uri="{FF2B5EF4-FFF2-40B4-BE49-F238E27FC236}">
                <a16:creationId xmlns:a16="http://schemas.microsoft.com/office/drawing/2014/main" id="{2F5E36FF-7541-1D7B-537A-377322573657}"/>
              </a:ext>
            </a:extLst>
          </p:cNvPr>
          <p:cNvSpPr txBox="1"/>
          <p:nvPr/>
        </p:nvSpPr>
        <p:spPr>
          <a:xfrm>
            <a:off x="-3712909" y="477292"/>
            <a:ext cx="31325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Conclusion</a:t>
            </a:r>
          </a:p>
        </p:txBody>
      </p:sp>
      <p:cxnSp>
        <p:nvCxnSpPr>
          <p:cNvPr id="6" name="Yellow Line">
            <a:extLst>
              <a:ext uri="{FF2B5EF4-FFF2-40B4-BE49-F238E27FC236}">
                <a16:creationId xmlns:a16="http://schemas.microsoft.com/office/drawing/2014/main" id="{1E0B956D-5293-7282-A4A6-FAFC7A60F03B}"/>
              </a:ext>
            </a:extLst>
          </p:cNvPr>
          <p:cNvCxnSpPr>
            <a:cxnSpLocks/>
          </p:cNvCxnSpPr>
          <p:nvPr/>
        </p:nvCxnSpPr>
        <p:spPr>
          <a:xfrm>
            <a:off x="-1782458" y="624731"/>
            <a:ext cx="0" cy="474562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 hidden="1">
            <a:extLst>
              <a:ext uri="{FF2B5EF4-FFF2-40B4-BE49-F238E27FC236}">
                <a16:creationId xmlns:a16="http://schemas.microsoft.com/office/drawing/2014/main" id="{C17683B6-DC94-0953-9F3B-17769A4A3BD6}"/>
              </a:ext>
            </a:extLst>
          </p:cNvPr>
          <p:cNvCxnSpPr>
            <a:cxnSpLocks/>
          </p:cNvCxnSpPr>
          <p:nvPr/>
        </p:nvCxnSpPr>
        <p:spPr>
          <a:xfrm>
            <a:off x="822038" y="2064939"/>
            <a:ext cx="0" cy="3678636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4874048-7CDA-3803-A1F4-FF237BA667B8}"/>
              </a:ext>
            </a:extLst>
          </p:cNvPr>
          <p:cNvSpPr txBox="1"/>
          <p:nvPr/>
        </p:nvSpPr>
        <p:spPr>
          <a:xfrm>
            <a:off x="-6384463" y="256291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TradeHub offers a safe, affordable, and exclusive platform for students to buy, sell, and trade.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73C16-FAA6-809F-570E-B551F793BE7F}"/>
              </a:ext>
            </a:extLst>
          </p:cNvPr>
          <p:cNvSpPr/>
          <p:nvPr/>
        </p:nvSpPr>
        <p:spPr>
          <a:xfrm>
            <a:off x="-6755938" y="2726353"/>
            <a:ext cx="219075" cy="381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FF889-AD4C-2F6E-EECD-C27711BFE298}"/>
              </a:ext>
            </a:extLst>
          </p:cNvPr>
          <p:cNvSpPr txBox="1"/>
          <p:nvPr/>
        </p:nvSpPr>
        <p:spPr>
          <a:xfrm>
            <a:off x="-7298861" y="371912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Builds trust by keeping the ecosystem student-only.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7D9D3-E362-4152-6313-E0CDE3D08C2D}"/>
              </a:ext>
            </a:extLst>
          </p:cNvPr>
          <p:cNvSpPr/>
          <p:nvPr/>
        </p:nvSpPr>
        <p:spPr>
          <a:xfrm>
            <a:off x="-7670336" y="3728681"/>
            <a:ext cx="219075" cy="381000"/>
          </a:xfrm>
          <a:prstGeom prst="rect">
            <a:avLst/>
          </a:prstGeom>
          <a:solidFill>
            <a:srgbClr val="781F4A"/>
          </a:solidFill>
          <a:ln>
            <a:solidFill>
              <a:srgbClr val="781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B0CA27-C01F-21CA-208A-3787E75F4948}"/>
              </a:ext>
            </a:extLst>
          </p:cNvPr>
          <p:cNvSpPr txBox="1"/>
          <p:nvPr/>
        </p:nvSpPr>
        <p:spPr>
          <a:xfrm>
            <a:off x="-8180602" y="456756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Scalable foundation for future expansion (reviews, delivery, auctions).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3CD020-076A-D0B7-5644-6B0435AEFC35}"/>
              </a:ext>
            </a:extLst>
          </p:cNvPr>
          <p:cNvSpPr/>
          <p:nvPr/>
        </p:nvSpPr>
        <p:spPr>
          <a:xfrm>
            <a:off x="-8552077" y="4731009"/>
            <a:ext cx="219075" cy="381000"/>
          </a:xfrm>
          <a:prstGeom prst="rect">
            <a:avLst/>
          </a:prstGeom>
          <a:solidFill>
            <a:srgbClr val="2A8287"/>
          </a:solidFill>
          <a:ln>
            <a:solidFill>
              <a:srgbClr val="2A8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DC43EC-A7DF-063B-53F7-5BC746F13C22}"/>
              </a:ext>
            </a:extLst>
          </p:cNvPr>
          <p:cNvSpPr txBox="1"/>
          <p:nvPr/>
        </p:nvSpPr>
        <p:spPr>
          <a:xfrm>
            <a:off x="1846409" y="2295123"/>
            <a:ext cx="40977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>
                    <a:lumMod val="95000"/>
                  </a:schemeClr>
                </a:solidFill>
              </a:rPr>
              <a:t>Thank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34C40-1392-61A5-4BD6-25044E892332}"/>
              </a:ext>
            </a:extLst>
          </p:cNvPr>
          <p:cNvSpPr txBox="1"/>
          <p:nvPr/>
        </p:nvSpPr>
        <p:spPr>
          <a:xfrm>
            <a:off x="5842599" y="2270522"/>
            <a:ext cx="109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FFC000"/>
                </a:solidFill>
              </a:rPr>
              <a:t>!</a:t>
            </a:r>
            <a:endParaRPr lang="en-US" sz="7200" dirty="0">
              <a:solidFill>
                <a:srgbClr val="FFC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AFF7D6B-E727-6F26-350E-9BB7666FF35B}"/>
              </a:ext>
            </a:extLst>
          </p:cNvPr>
          <p:cNvSpPr/>
          <p:nvPr/>
        </p:nvSpPr>
        <p:spPr>
          <a:xfrm rot="20070000">
            <a:off x="9990864" y="-473723"/>
            <a:ext cx="2743200" cy="2743200"/>
          </a:xfrm>
          <a:prstGeom prst="roundRect">
            <a:avLst/>
          </a:prstGeom>
          <a:noFill/>
          <a:ln>
            <a:solidFill>
              <a:srgbClr val="DC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D2A4BBE-E893-A16D-C304-6CCDB880EF81}"/>
              </a:ext>
            </a:extLst>
          </p:cNvPr>
          <p:cNvSpPr/>
          <p:nvPr/>
        </p:nvSpPr>
        <p:spPr>
          <a:xfrm rot="1218959">
            <a:off x="-745986" y="4044079"/>
            <a:ext cx="2743200" cy="2743200"/>
          </a:xfrm>
          <a:prstGeom prst="roundRect">
            <a:avLst/>
          </a:prstGeom>
          <a:noFill/>
          <a:ln>
            <a:solidFill>
              <a:srgbClr val="DC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40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3004</TotalTime>
  <Words>569</Words>
  <Application>Microsoft Macintosh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Problem  Statement</vt:lpstr>
      <vt:lpstr>Problem 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Labib Islam</dc:creator>
  <cp:lastModifiedBy>Labib Islam</cp:lastModifiedBy>
  <cp:revision>10</cp:revision>
  <dcterms:created xsi:type="dcterms:W3CDTF">2025-09-20T19:34:10Z</dcterms:created>
  <dcterms:modified xsi:type="dcterms:W3CDTF">2025-09-25T02:15:57Z</dcterms:modified>
</cp:coreProperties>
</file>